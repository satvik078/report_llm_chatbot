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54864" y="-1"/>
            <a:ext cx="9089136" cy="4572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6858000" y="-1371601"/>
            <a:ext cx="3657600" cy="3657601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1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6400799" y="2285999"/>
            <a:ext cx="2926082" cy="2926082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1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hape 4"/>
          <p:cNvSpPr/>
          <p:nvPr/>
        </p:nvSpPr>
        <p:spPr>
          <a:xfrm>
            <a:off x="502920" y="822960"/>
            <a:ext cx="1920240" cy="274321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502920" y="896620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800">
                <a:solidFill>
                  <a:srgbClr val="10B981"/>
                </a:solidFill>
              </a:defRPr>
            </a:lvl1pPr>
          </a:lstStyle>
          <a:p>
            <a:pPr/>
            <a:r>
              <a:t>PROJECT REPORT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502919" y="1234439"/>
            <a:ext cx="6858001" cy="542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4200">
                <a:solidFill>
                  <a:srgbClr val="F9FAFB"/>
                </a:solidFill>
              </a:defRPr>
            </a:pPr>
            <a:r>
              <a:t>Fine-Tuned LLM </a:t>
            </a:r>
            <a:r>
              <a:rPr>
                <a:solidFill>
                  <a:srgbClr val="10B981"/>
                </a:solidFill>
              </a:rPr>
              <a:t>Chatbot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502919" y="2011679"/>
            <a:ext cx="685800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2200">
                <a:solidFill>
                  <a:srgbClr val="9CA3AF"/>
                </a:solidFill>
              </a:defRPr>
            </a:lvl1pPr>
          </a:lstStyle>
          <a:p>
            <a:pPr/>
            <a:r>
              <a:t>for Wildlife Surveillance Drone System</a:t>
            </a:r>
          </a:p>
        </p:txBody>
      </p:sp>
      <p:sp>
        <p:nvSpPr>
          <p:cNvPr id="28" name="Shape 8"/>
          <p:cNvSpPr/>
          <p:nvPr/>
        </p:nvSpPr>
        <p:spPr>
          <a:xfrm>
            <a:off x="502919" y="2606039"/>
            <a:ext cx="3200401" cy="22861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9"/>
          <p:cNvSpPr txBox="1"/>
          <p:nvPr/>
        </p:nvSpPr>
        <p:spPr>
          <a:xfrm>
            <a:off x="502919" y="2851843"/>
            <a:ext cx="54864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Presented by: </a:t>
            </a:r>
            <a:r>
              <a:rPr b="1">
                <a:solidFill>
                  <a:srgbClr val="F9FAFB"/>
                </a:solidFill>
              </a:rPr>
              <a:t>Satvik Pandey</a:t>
            </a:r>
          </a:p>
        </p:txBody>
      </p:sp>
      <p:sp>
        <p:nvSpPr>
          <p:cNvPr id="30" name="Text 10"/>
          <p:cNvSpPr txBox="1"/>
          <p:nvPr/>
        </p:nvSpPr>
        <p:spPr>
          <a:xfrm>
            <a:off x="502919" y="3186728"/>
            <a:ext cx="7315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/>
            <a:r>
              <a:t>Base Model: TinyLlama-1.1B  •  Method: LoRA Fine-Tuning  •  Framework: HuggingFace + Streamlit</a:t>
            </a:r>
          </a:p>
        </p:txBody>
      </p:sp>
      <p:sp>
        <p:nvSpPr>
          <p:cNvPr id="31" name="Shape 11"/>
          <p:cNvSpPr/>
          <p:nvPr/>
        </p:nvSpPr>
        <p:spPr>
          <a:xfrm>
            <a:off x="502919" y="3703320"/>
            <a:ext cx="1371601" cy="73152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Shape 12"/>
          <p:cNvSpPr/>
          <p:nvPr/>
        </p:nvSpPr>
        <p:spPr>
          <a:xfrm>
            <a:off x="502919" y="3703320"/>
            <a:ext cx="1371601" cy="36577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13"/>
          <p:cNvSpPr txBox="1"/>
          <p:nvPr/>
        </p:nvSpPr>
        <p:spPr>
          <a:xfrm>
            <a:off x="502919" y="3801952"/>
            <a:ext cx="13716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9FAFB"/>
                </a:solidFill>
              </a:defRPr>
            </a:lvl1pPr>
          </a:lstStyle>
          <a:p>
            <a:pPr/>
            <a:r>
              <a:t>1.1B</a:t>
            </a:r>
          </a:p>
        </p:txBody>
      </p:sp>
      <p:sp>
        <p:nvSpPr>
          <p:cNvPr id="34" name="Text 14"/>
          <p:cNvSpPr txBox="1"/>
          <p:nvPr/>
        </p:nvSpPr>
        <p:spPr>
          <a:xfrm>
            <a:off x="502919" y="4179315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9CA3AF"/>
                </a:solidFill>
              </a:defRPr>
            </a:lvl1pPr>
          </a:lstStyle>
          <a:p>
            <a:pPr/>
            <a:r>
              <a:t>Parameters</a:t>
            </a:r>
          </a:p>
        </p:txBody>
      </p:sp>
      <p:sp>
        <p:nvSpPr>
          <p:cNvPr id="35" name="Shape 15"/>
          <p:cNvSpPr/>
          <p:nvPr/>
        </p:nvSpPr>
        <p:spPr>
          <a:xfrm>
            <a:off x="2011679" y="3703320"/>
            <a:ext cx="1371601" cy="73152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Shape 16"/>
          <p:cNvSpPr/>
          <p:nvPr/>
        </p:nvSpPr>
        <p:spPr>
          <a:xfrm>
            <a:off x="2011679" y="3703320"/>
            <a:ext cx="1371601" cy="3657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17"/>
          <p:cNvSpPr txBox="1"/>
          <p:nvPr/>
        </p:nvSpPr>
        <p:spPr>
          <a:xfrm>
            <a:off x="2011679" y="3801952"/>
            <a:ext cx="13716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9FAFB"/>
                </a:solidFill>
              </a:defRPr>
            </a:lvl1pPr>
          </a:lstStyle>
          <a:p>
            <a:pPr/>
            <a:r>
              <a:t>500</a:t>
            </a:r>
          </a:p>
        </p:txBody>
      </p:sp>
      <p:sp>
        <p:nvSpPr>
          <p:cNvPr id="38" name="Text 18"/>
          <p:cNvSpPr txBox="1"/>
          <p:nvPr/>
        </p:nvSpPr>
        <p:spPr>
          <a:xfrm>
            <a:off x="2011679" y="4179315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9CA3AF"/>
                </a:solidFill>
              </a:defRPr>
            </a:lvl1pPr>
          </a:lstStyle>
          <a:p>
            <a:pPr/>
            <a:r>
              <a:t>Training Q&amp;A</a:t>
            </a:r>
          </a:p>
        </p:txBody>
      </p:sp>
      <p:sp>
        <p:nvSpPr>
          <p:cNvPr id="39" name="Shape 19"/>
          <p:cNvSpPr/>
          <p:nvPr/>
        </p:nvSpPr>
        <p:spPr>
          <a:xfrm>
            <a:off x="3520440" y="3703320"/>
            <a:ext cx="1371601" cy="73152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Shape 20"/>
          <p:cNvSpPr/>
          <p:nvPr/>
        </p:nvSpPr>
        <p:spPr>
          <a:xfrm>
            <a:off x="3520440" y="3703320"/>
            <a:ext cx="1371601" cy="36577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21"/>
          <p:cNvSpPr txBox="1"/>
          <p:nvPr/>
        </p:nvSpPr>
        <p:spPr>
          <a:xfrm>
            <a:off x="3520440" y="3801952"/>
            <a:ext cx="13716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9FAFB"/>
                </a:solidFill>
              </a:defRPr>
            </a:lvl1pPr>
          </a:lstStyle>
          <a:p>
            <a:pPr/>
            <a:r>
              <a:t>20MB</a:t>
            </a:r>
          </a:p>
        </p:txBody>
      </p:sp>
      <p:sp>
        <p:nvSpPr>
          <p:cNvPr id="42" name="Text 22"/>
          <p:cNvSpPr txBox="1"/>
          <p:nvPr/>
        </p:nvSpPr>
        <p:spPr>
          <a:xfrm>
            <a:off x="3520440" y="4179315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9CA3AF"/>
                </a:solidFill>
              </a:defRPr>
            </a:lvl1pPr>
          </a:lstStyle>
          <a:p>
            <a:pPr/>
            <a:r>
              <a:t>Adapter Size</a:t>
            </a:r>
          </a:p>
        </p:txBody>
      </p:sp>
      <p:sp>
        <p:nvSpPr>
          <p:cNvPr id="43" name="Shape 23"/>
          <p:cNvSpPr/>
          <p:nvPr/>
        </p:nvSpPr>
        <p:spPr>
          <a:xfrm>
            <a:off x="5029200" y="3703320"/>
            <a:ext cx="1371600" cy="73152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Shape 24"/>
          <p:cNvSpPr/>
          <p:nvPr/>
        </p:nvSpPr>
        <p:spPr>
          <a:xfrm>
            <a:off x="5029200" y="3703320"/>
            <a:ext cx="1371600" cy="3657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25"/>
          <p:cNvSpPr txBox="1"/>
          <p:nvPr/>
        </p:nvSpPr>
        <p:spPr>
          <a:xfrm>
            <a:off x="5029200" y="3801952"/>
            <a:ext cx="137160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9FAFB"/>
                </a:solidFill>
              </a:defRPr>
            </a:lvl1pPr>
          </a:lstStyle>
          <a:p>
            <a:pPr/>
            <a:r>
              <a:t>~25 min</a:t>
            </a:r>
          </a:p>
        </p:txBody>
      </p:sp>
      <p:sp>
        <p:nvSpPr>
          <p:cNvPr id="46" name="Text 26"/>
          <p:cNvSpPr txBox="1"/>
          <p:nvPr/>
        </p:nvSpPr>
        <p:spPr>
          <a:xfrm>
            <a:off x="5029200" y="4179315"/>
            <a:ext cx="1371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9CA3AF"/>
                </a:solidFill>
              </a:defRPr>
            </a:lvl1pPr>
          </a:lstStyle>
          <a:p>
            <a:pPr/>
            <a:r>
              <a:t>Training Time</a:t>
            </a:r>
          </a:p>
        </p:txBody>
      </p:sp>
      <p:sp>
        <p:nvSpPr>
          <p:cNvPr id="47" name="Shape 27"/>
          <p:cNvSpPr/>
          <p:nvPr/>
        </p:nvSpPr>
        <p:spPr>
          <a:xfrm>
            <a:off x="54864" y="4910328"/>
            <a:ext cx="9089136" cy="256033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Text 28"/>
          <p:cNvSpPr txBox="1"/>
          <p:nvPr/>
        </p:nvSpPr>
        <p:spPr>
          <a:xfrm>
            <a:off x="502919" y="4974844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100" sz="900">
                <a:solidFill>
                  <a:srgbClr val="6B7280"/>
                </a:solidFill>
              </a:defRPr>
            </a:lvl1pPr>
          </a:lstStyle>
          <a:p>
            <a:pPr/>
            <a:r>
              <a:t>Wildlife Conservation  |  AI &amp; NLP  |  Parameter-Efficient Fine-Tuning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8321040" y="-1"/>
            <a:ext cx="822961" cy="8229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1"/>
          <p:cNvSpPr txBox="1"/>
          <p:nvPr/>
        </p:nvSpPr>
        <p:spPr>
          <a:xfrm>
            <a:off x="457200" y="326523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9FAFB"/>
                </a:solidFill>
              </a:defRPr>
            </a:lvl1pPr>
          </a:lstStyle>
          <a:p>
            <a:pPr/>
            <a:r>
              <a:t>Project Overview</a:t>
            </a:r>
          </a:p>
        </p:txBody>
      </p:sp>
      <p:sp>
        <p:nvSpPr>
          <p:cNvPr id="52" name="Shape 2"/>
          <p:cNvSpPr/>
          <p:nvPr/>
        </p:nvSpPr>
        <p:spPr>
          <a:xfrm>
            <a:off x="457200" y="347472"/>
            <a:ext cx="109728" cy="109729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3"/>
          <p:cNvSpPr txBox="1"/>
          <p:nvPr/>
        </p:nvSpPr>
        <p:spPr>
          <a:xfrm>
            <a:off x="457200" y="946457"/>
            <a:ext cx="8229600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9CA3AF"/>
                </a:solidFill>
              </a:defRPr>
            </a:lvl1pPr>
          </a:lstStyle>
          <a:p>
            <a:pPr/>
            <a:r>
              <a:t>An AI-powered expert chatbot fine-tuned on domain-specific knowledge to assist researchers, conservationists, and students in understanding and deploying wildlife surveillance drone systems.</a:t>
            </a:r>
          </a:p>
        </p:txBody>
      </p:sp>
      <p:sp>
        <p:nvSpPr>
          <p:cNvPr id="54" name="Shape 4"/>
          <p:cNvSpPr/>
          <p:nvPr/>
        </p:nvSpPr>
        <p:spPr>
          <a:xfrm>
            <a:off x="457199" y="1508760"/>
            <a:ext cx="3977642" cy="150876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" name="Shape 5"/>
          <p:cNvSpPr/>
          <p:nvPr/>
        </p:nvSpPr>
        <p:spPr>
          <a:xfrm>
            <a:off x="457200" y="1508760"/>
            <a:ext cx="54864" cy="150876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6"/>
          <p:cNvSpPr txBox="1"/>
          <p:nvPr/>
        </p:nvSpPr>
        <p:spPr>
          <a:xfrm>
            <a:off x="621791" y="1688591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🤖</a:t>
            </a:r>
          </a:p>
        </p:txBody>
      </p:sp>
      <p:sp>
        <p:nvSpPr>
          <p:cNvPr id="57" name="Text 7"/>
          <p:cNvSpPr txBox="1"/>
          <p:nvPr/>
        </p:nvSpPr>
        <p:spPr>
          <a:xfrm>
            <a:off x="1142999" y="1710435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800">
                <a:solidFill>
                  <a:srgbClr val="3B82F6"/>
                </a:solidFill>
              </a:defRPr>
            </a:lvl1pPr>
          </a:lstStyle>
          <a:p>
            <a:pPr/>
            <a:r>
              <a:t>BASE MODEL</a:t>
            </a:r>
          </a:p>
        </p:txBody>
      </p:sp>
      <p:sp>
        <p:nvSpPr>
          <p:cNvPr id="58" name="Text 8"/>
          <p:cNvSpPr txBox="1"/>
          <p:nvPr/>
        </p:nvSpPr>
        <p:spPr>
          <a:xfrm>
            <a:off x="1142999" y="1944432"/>
            <a:ext cx="31089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9FAFB"/>
                </a:solidFill>
              </a:defRPr>
            </a:lvl1pPr>
          </a:lstStyle>
          <a:p>
            <a:pPr/>
            <a:r>
              <a:t>TinyLlama-1.1B-Chat</a:t>
            </a:r>
          </a:p>
        </p:txBody>
      </p:sp>
      <p:sp>
        <p:nvSpPr>
          <p:cNvPr id="59" name="Text 9"/>
          <p:cNvSpPr txBox="1"/>
          <p:nvPr/>
        </p:nvSpPr>
        <p:spPr>
          <a:xfrm>
            <a:off x="1142999" y="2390946"/>
            <a:ext cx="310896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Lightweight 1.1B parameter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LLaMA-based chat model</a:t>
            </a:r>
          </a:p>
        </p:txBody>
      </p:sp>
      <p:sp>
        <p:nvSpPr>
          <p:cNvPr id="60" name="Shape 10"/>
          <p:cNvSpPr/>
          <p:nvPr/>
        </p:nvSpPr>
        <p:spPr>
          <a:xfrm>
            <a:off x="4709159" y="1508760"/>
            <a:ext cx="3977641" cy="150876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" name="Shape 11"/>
          <p:cNvSpPr/>
          <p:nvPr/>
        </p:nvSpPr>
        <p:spPr>
          <a:xfrm>
            <a:off x="4709159" y="1508760"/>
            <a:ext cx="54865" cy="1508761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2"/>
          <p:cNvSpPr txBox="1"/>
          <p:nvPr/>
        </p:nvSpPr>
        <p:spPr>
          <a:xfrm>
            <a:off x="4873752" y="1688591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⚡</a:t>
            </a:r>
          </a:p>
        </p:txBody>
      </p:sp>
      <p:sp>
        <p:nvSpPr>
          <p:cNvPr id="63" name="Text 13"/>
          <p:cNvSpPr txBox="1"/>
          <p:nvPr/>
        </p:nvSpPr>
        <p:spPr>
          <a:xfrm>
            <a:off x="5394959" y="1710435"/>
            <a:ext cx="3108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800">
                <a:solidFill>
                  <a:srgbClr val="10B981"/>
                </a:solidFill>
              </a:defRPr>
            </a:lvl1pPr>
          </a:lstStyle>
          <a:p>
            <a:pPr/>
            <a:r>
              <a:t>FINE-TUNING METHOD</a:t>
            </a:r>
          </a:p>
        </p:txBody>
      </p:sp>
      <p:sp>
        <p:nvSpPr>
          <p:cNvPr id="64" name="Text 14"/>
          <p:cNvSpPr txBox="1"/>
          <p:nvPr/>
        </p:nvSpPr>
        <p:spPr>
          <a:xfrm>
            <a:off x="5394959" y="1944432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9FAFB"/>
                </a:solidFill>
              </a:defRPr>
            </a:lvl1pPr>
          </a:lstStyle>
          <a:p>
            <a:pPr/>
            <a:r>
              <a:t>LoRA (Low-Rank Adaptation)</a:t>
            </a:r>
          </a:p>
        </p:txBody>
      </p:sp>
      <p:sp>
        <p:nvSpPr>
          <p:cNvPr id="65" name="Text 15"/>
          <p:cNvSpPr txBox="1"/>
          <p:nvPr/>
        </p:nvSpPr>
        <p:spPr>
          <a:xfrm>
            <a:off x="5394959" y="2390946"/>
            <a:ext cx="31089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Rank=8, Alpha=16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Only 20MB adapter weights</a:t>
            </a:r>
          </a:p>
        </p:txBody>
      </p:sp>
      <p:sp>
        <p:nvSpPr>
          <p:cNvPr id="66" name="Shape 16"/>
          <p:cNvSpPr/>
          <p:nvPr/>
        </p:nvSpPr>
        <p:spPr>
          <a:xfrm>
            <a:off x="457199" y="3154679"/>
            <a:ext cx="3977642" cy="150876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" name="Shape 17"/>
          <p:cNvSpPr/>
          <p:nvPr/>
        </p:nvSpPr>
        <p:spPr>
          <a:xfrm>
            <a:off x="457200" y="3154679"/>
            <a:ext cx="54864" cy="1508761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8"/>
          <p:cNvSpPr txBox="1"/>
          <p:nvPr/>
        </p:nvSpPr>
        <p:spPr>
          <a:xfrm>
            <a:off x="621791" y="3334511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📂</a:t>
            </a:r>
          </a:p>
        </p:txBody>
      </p:sp>
      <p:sp>
        <p:nvSpPr>
          <p:cNvPr id="69" name="Text 19"/>
          <p:cNvSpPr txBox="1"/>
          <p:nvPr/>
        </p:nvSpPr>
        <p:spPr>
          <a:xfrm>
            <a:off x="1142999" y="3356355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800">
                <a:solidFill>
                  <a:srgbClr val="06B6D4"/>
                </a:solidFill>
              </a:defRPr>
            </a:lvl1pPr>
          </a:lstStyle>
          <a:p>
            <a:pPr/>
            <a:r>
              <a:t>TRAINING DATASET</a:t>
            </a:r>
          </a:p>
        </p:txBody>
      </p:sp>
      <p:sp>
        <p:nvSpPr>
          <p:cNvPr id="70" name="Text 20"/>
          <p:cNvSpPr txBox="1"/>
          <p:nvPr/>
        </p:nvSpPr>
        <p:spPr>
          <a:xfrm>
            <a:off x="1142999" y="3590352"/>
            <a:ext cx="31089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9FAFB"/>
                </a:solidFill>
              </a:defRPr>
            </a:lvl1pPr>
          </a:lstStyle>
          <a:p>
            <a:pPr/>
            <a:r>
              <a:t>500 Q&amp;A Pairs</a:t>
            </a:r>
          </a:p>
        </p:txBody>
      </p:sp>
      <p:sp>
        <p:nvSpPr>
          <p:cNvPr id="71" name="Text 21"/>
          <p:cNvSpPr txBox="1"/>
          <p:nvPr/>
        </p:nvSpPr>
        <p:spPr>
          <a:xfrm>
            <a:off x="1142999" y="4036866"/>
            <a:ext cx="310896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90% train / 10% test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Drone &amp; conservation domain</a:t>
            </a:r>
          </a:p>
        </p:txBody>
      </p:sp>
      <p:sp>
        <p:nvSpPr>
          <p:cNvPr id="72" name="Shape 22"/>
          <p:cNvSpPr/>
          <p:nvPr/>
        </p:nvSpPr>
        <p:spPr>
          <a:xfrm>
            <a:off x="4709159" y="3154679"/>
            <a:ext cx="3977641" cy="150876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" name="Shape 23"/>
          <p:cNvSpPr/>
          <p:nvPr/>
        </p:nvSpPr>
        <p:spPr>
          <a:xfrm>
            <a:off x="4709159" y="3154679"/>
            <a:ext cx="54865" cy="150876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24"/>
          <p:cNvSpPr txBox="1"/>
          <p:nvPr/>
        </p:nvSpPr>
        <p:spPr>
          <a:xfrm>
            <a:off x="4873752" y="3334511"/>
            <a:ext cx="457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🖥️</a:t>
            </a:r>
          </a:p>
        </p:txBody>
      </p:sp>
      <p:sp>
        <p:nvSpPr>
          <p:cNvPr id="75" name="Text 25"/>
          <p:cNvSpPr txBox="1"/>
          <p:nvPr/>
        </p:nvSpPr>
        <p:spPr>
          <a:xfrm>
            <a:off x="5394959" y="3356355"/>
            <a:ext cx="3108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800">
                <a:solidFill>
                  <a:srgbClr val="F59E0B"/>
                </a:solidFill>
              </a:defRPr>
            </a:lvl1pPr>
          </a:lstStyle>
          <a:p>
            <a:pPr/>
            <a:r>
              <a:t>DEPLOYMENT</a:t>
            </a:r>
          </a:p>
        </p:txBody>
      </p:sp>
      <p:sp>
        <p:nvSpPr>
          <p:cNvPr id="76" name="Text 26"/>
          <p:cNvSpPr txBox="1"/>
          <p:nvPr/>
        </p:nvSpPr>
        <p:spPr>
          <a:xfrm>
            <a:off x="5394959" y="3590352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9FAFB"/>
                </a:solidFill>
              </a:defRPr>
            </a:lvl1pPr>
          </a:lstStyle>
          <a:p>
            <a:pPr/>
            <a:r>
              <a:t>Streamlit Web App</a:t>
            </a:r>
          </a:p>
        </p:txBody>
      </p:sp>
      <p:sp>
        <p:nvSpPr>
          <p:cNvPr id="77" name="Text 27"/>
          <p:cNvSpPr txBox="1"/>
          <p:nvPr/>
        </p:nvSpPr>
        <p:spPr>
          <a:xfrm>
            <a:off x="5394959" y="4036866"/>
            <a:ext cx="31089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Apple Silicon (MPS)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Real-time chat interface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8321040" y="-1"/>
            <a:ext cx="822961" cy="8229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"/>
          <p:cNvSpPr txBox="1"/>
          <p:nvPr/>
        </p:nvSpPr>
        <p:spPr>
          <a:xfrm>
            <a:off x="457200" y="326523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9FAFB"/>
                </a:solidFill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81" name="Shape 2"/>
          <p:cNvSpPr/>
          <p:nvPr/>
        </p:nvSpPr>
        <p:spPr>
          <a:xfrm>
            <a:off x="457200" y="347472"/>
            <a:ext cx="109728" cy="109729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3"/>
          <p:cNvSpPr/>
          <p:nvPr/>
        </p:nvSpPr>
        <p:spPr>
          <a:xfrm>
            <a:off x="457199" y="960120"/>
            <a:ext cx="4023361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" name="Shape 4"/>
          <p:cNvSpPr/>
          <p:nvPr/>
        </p:nvSpPr>
        <p:spPr>
          <a:xfrm>
            <a:off x="457199" y="960119"/>
            <a:ext cx="4023361" cy="347473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5"/>
          <p:cNvSpPr txBox="1"/>
          <p:nvPr/>
        </p:nvSpPr>
        <p:spPr>
          <a:xfrm>
            <a:off x="566927" y="1019555"/>
            <a:ext cx="380390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⚠️  </a:t>
            </a:r>
            <a:r>
              <a:t>Wildlife Conservation Challenges</a:t>
            </a:r>
          </a:p>
        </p:txBody>
      </p:sp>
      <p:sp>
        <p:nvSpPr>
          <p:cNvPr id="85" name="Text 6"/>
          <p:cNvSpPr txBox="1"/>
          <p:nvPr/>
        </p:nvSpPr>
        <p:spPr>
          <a:xfrm>
            <a:off x="640079" y="1389887"/>
            <a:ext cx="3749042" cy="142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000"/>
              </a:spcBef>
              <a:buSzPct val="100000"/>
              <a:buChar char="•"/>
              <a:defRPr sz="1200">
                <a:solidFill>
                  <a:srgbClr val="F9FAFB"/>
                </a:solidFill>
              </a:defRPr>
            </a:pPr>
            <a:r>
              <a:t>Illegal poaching &amp; habitat destruction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200">
                <a:solidFill>
                  <a:srgbClr val="F9FAFB"/>
                </a:solidFill>
              </a:defRPr>
            </a:pPr>
            <a:r>
              <a:t>Manual monitoring is slow &amp; costly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200">
                <a:solidFill>
                  <a:srgbClr val="F9FAFB"/>
                </a:solidFill>
              </a:defRPr>
            </a:pPr>
            <a:r>
              <a:t>Hard-to-reach &amp; vast terrains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200">
                <a:solidFill>
                  <a:srgbClr val="F9FAFB"/>
                </a:solidFill>
              </a:defRPr>
            </a:pPr>
            <a:r>
              <a:t>Limited access to expert knowledge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200">
                <a:solidFill>
                  <a:srgbClr val="F9FAFB"/>
                </a:solidFill>
              </a:defRPr>
            </a:pPr>
            <a:r>
              <a:t>Real-time decision-making is critical</a:t>
            </a:r>
          </a:p>
        </p:txBody>
      </p:sp>
      <p:sp>
        <p:nvSpPr>
          <p:cNvPr id="86" name="Shape 7"/>
          <p:cNvSpPr/>
          <p:nvPr/>
        </p:nvSpPr>
        <p:spPr>
          <a:xfrm>
            <a:off x="4663440" y="960120"/>
            <a:ext cx="40233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" name="Shape 8"/>
          <p:cNvSpPr/>
          <p:nvPr/>
        </p:nvSpPr>
        <p:spPr>
          <a:xfrm>
            <a:off x="4663440" y="960119"/>
            <a:ext cx="4023360" cy="347473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9"/>
          <p:cNvSpPr txBox="1"/>
          <p:nvPr/>
        </p:nvSpPr>
        <p:spPr>
          <a:xfrm>
            <a:off x="4773167" y="1019555"/>
            <a:ext cx="380390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✅  </a:t>
            </a:r>
            <a:r>
              <a:t>Our AI Chatbot Solution</a:t>
            </a:r>
          </a:p>
        </p:txBody>
      </p:sp>
      <p:sp>
        <p:nvSpPr>
          <p:cNvPr id="89" name="Text 10"/>
          <p:cNvSpPr txBox="1"/>
          <p:nvPr/>
        </p:nvSpPr>
        <p:spPr>
          <a:xfrm>
            <a:off x="4846319" y="1389887"/>
            <a:ext cx="3749042" cy="142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000"/>
              </a:spcBef>
              <a:buSzPct val="100000"/>
              <a:buChar char="•"/>
              <a:defRPr sz="1200">
                <a:solidFill>
                  <a:srgbClr val="F9FAFB"/>
                </a:solidFill>
              </a:defRPr>
            </a:pPr>
            <a:r>
              <a:t>Fine-tuned LLM for drone &amp; wildlife domain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200">
                <a:solidFill>
                  <a:srgbClr val="F9FAFB"/>
                </a:solidFill>
              </a:defRPr>
            </a:pPr>
            <a:r>
              <a:t>Instant expert Q&amp;A without internet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200">
                <a:solidFill>
                  <a:srgbClr val="F9FAFB"/>
                </a:solidFill>
              </a:defRPr>
            </a:pPr>
            <a:r>
              <a:t>Runs efficiently on local hardware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200">
                <a:solidFill>
                  <a:srgbClr val="F9FAFB"/>
                </a:solidFill>
              </a:defRPr>
            </a:pPr>
            <a:r>
              <a:t>Guides users on drone setup, sensors &amp; AI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200">
                <a:solidFill>
                  <a:srgbClr val="F9FAFB"/>
                </a:solidFill>
              </a:defRPr>
            </a:pPr>
            <a:r>
              <a:t>Supports anti-poaching decision-making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8321040" y="-1"/>
            <a:ext cx="822961" cy="8229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1"/>
          <p:cNvSpPr txBox="1"/>
          <p:nvPr/>
        </p:nvSpPr>
        <p:spPr>
          <a:xfrm>
            <a:off x="457200" y="326523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9FAFB"/>
                </a:solidFill>
              </a:defRPr>
            </a:lvl1pPr>
          </a:lstStyle>
          <a:p>
            <a:pPr/>
            <a:r>
              <a:t>How It Works</a:t>
            </a:r>
          </a:p>
        </p:txBody>
      </p:sp>
      <p:sp>
        <p:nvSpPr>
          <p:cNvPr id="93" name="Shape 2"/>
          <p:cNvSpPr/>
          <p:nvPr/>
        </p:nvSpPr>
        <p:spPr>
          <a:xfrm>
            <a:off x="457200" y="347472"/>
            <a:ext cx="109728" cy="109729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Shape 3"/>
          <p:cNvSpPr/>
          <p:nvPr/>
        </p:nvSpPr>
        <p:spPr>
          <a:xfrm>
            <a:off x="256032" y="1097279"/>
            <a:ext cx="1417320" cy="1874522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" name="Shape 4"/>
          <p:cNvSpPr/>
          <p:nvPr/>
        </p:nvSpPr>
        <p:spPr>
          <a:xfrm>
            <a:off x="256032" y="1097280"/>
            <a:ext cx="1417320" cy="5486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Shape 5"/>
          <p:cNvSpPr/>
          <p:nvPr/>
        </p:nvSpPr>
        <p:spPr>
          <a:xfrm>
            <a:off x="786383" y="1188719"/>
            <a:ext cx="347473" cy="347473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6"/>
          <p:cNvSpPr txBox="1"/>
          <p:nvPr/>
        </p:nvSpPr>
        <p:spPr>
          <a:xfrm>
            <a:off x="786383" y="1295322"/>
            <a:ext cx="34747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3B82F6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8" name="Text 7"/>
          <p:cNvSpPr txBox="1"/>
          <p:nvPr/>
        </p:nvSpPr>
        <p:spPr>
          <a:xfrm>
            <a:off x="603504" y="1612900"/>
            <a:ext cx="713233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💬</a:t>
            </a:r>
          </a:p>
        </p:txBody>
      </p:sp>
      <p:sp>
        <p:nvSpPr>
          <p:cNvPr id="99" name="Text 8"/>
          <p:cNvSpPr txBox="1"/>
          <p:nvPr/>
        </p:nvSpPr>
        <p:spPr>
          <a:xfrm>
            <a:off x="301751" y="2196006"/>
            <a:ext cx="13258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9FAFB"/>
                </a:solidFill>
              </a:defRPr>
            </a:lvl1pPr>
          </a:lstStyle>
          <a:p>
            <a:pPr/>
            <a:r>
              <a:t>User Input</a:t>
            </a:r>
          </a:p>
        </p:txBody>
      </p:sp>
      <p:sp>
        <p:nvSpPr>
          <p:cNvPr id="100" name="Text 9"/>
          <p:cNvSpPr txBox="1"/>
          <p:nvPr/>
        </p:nvSpPr>
        <p:spPr>
          <a:xfrm>
            <a:off x="301751" y="2490251"/>
            <a:ext cx="1325882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9CA3AF"/>
                </a:solidFill>
              </a:defRPr>
            </a:pPr>
            <a:r>
              <a:t>Question asked</a:t>
            </a:r>
          </a:p>
          <a:p>
            <a:pPr algn="ctr">
              <a:defRPr sz="800">
                <a:solidFill>
                  <a:srgbClr val="9CA3AF"/>
                </a:solidFill>
              </a:defRPr>
            </a:pPr>
            <a:r>
              <a:t>via Streamlit UI</a:t>
            </a:r>
          </a:p>
        </p:txBody>
      </p:sp>
      <p:sp>
        <p:nvSpPr>
          <p:cNvPr id="101" name="Shape 10"/>
          <p:cNvSpPr/>
          <p:nvPr/>
        </p:nvSpPr>
        <p:spPr>
          <a:xfrm>
            <a:off x="1691639" y="1901951"/>
            <a:ext cx="228601" cy="27433"/>
          </a:xfrm>
          <a:prstGeom prst="rect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3B82F6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Shape 11"/>
          <p:cNvSpPr/>
          <p:nvPr/>
        </p:nvSpPr>
        <p:spPr>
          <a:xfrm>
            <a:off x="1892807" y="1856232"/>
            <a:ext cx="73153" cy="118873"/>
          </a:xfrm>
          <a:prstGeom prst="triangle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3B82F6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Shape 12"/>
          <p:cNvSpPr/>
          <p:nvPr/>
        </p:nvSpPr>
        <p:spPr>
          <a:xfrm>
            <a:off x="1975104" y="1097279"/>
            <a:ext cx="1417321" cy="1874522"/>
          </a:xfrm>
          <a:prstGeom prst="rect">
            <a:avLst/>
          </a:prstGeom>
          <a:solidFill>
            <a:srgbClr val="161B22"/>
          </a:solidFill>
          <a:ln w="19050">
            <a:solidFill>
              <a:srgbClr val="06B6D4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" name="Shape 13"/>
          <p:cNvSpPr/>
          <p:nvPr/>
        </p:nvSpPr>
        <p:spPr>
          <a:xfrm>
            <a:off x="1975104" y="1097280"/>
            <a:ext cx="1417321" cy="54865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Shape 14"/>
          <p:cNvSpPr/>
          <p:nvPr/>
        </p:nvSpPr>
        <p:spPr>
          <a:xfrm>
            <a:off x="2505455" y="1188719"/>
            <a:ext cx="347473" cy="347473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Text 15"/>
          <p:cNvSpPr txBox="1"/>
          <p:nvPr/>
        </p:nvSpPr>
        <p:spPr>
          <a:xfrm>
            <a:off x="2505455" y="1295322"/>
            <a:ext cx="34747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6B6D4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7" name="Text 16"/>
          <p:cNvSpPr txBox="1"/>
          <p:nvPr/>
        </p:nvSpPr>
        <p:spPr>
          <a:xfrm>
            <a:off x="2322576" y="1612900"/>
            <a:ext cx="713233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🔒</a:t>
            </a:r>
          </a:p>
        </p:txBody>
      </p:sp>
      <p:sp>
        <p:nvSpPr>
          <p:cNvPr id="108" name="Text 17"/>
          <p:cNvSpPr txBox="1"/>
          <p:nvPr/>
        </p:nvSpPr>
        <p:spPr>
          <a:xfrm>
            <a:off x="2020823" y="2196006"/>
            <a:ext cx="13258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9FAFB"/>
                </a:solidFill>
              </a:defRPr>
            </a:lvl1pPr>
          </a:lstStyle>
          <a:p>
            <a:pPr/>
            <a:r>
              <a:t>System Prompt</a:t>
            </a:r>
          </a:p>
        </p:txBody>
      </p:sp>
      <p:sp>
        <p:nvSpPr>
          <p:cNvPr id="109" name="Text 18"/>
          <p:cNvSpPr txBox="1"/>
          <p:nvPr/>
        </p:nvSpPr>
        <p:spPr>
          <a:xfrm>
            <a:off x="2020823" y="2490251"/>
            <a:ext cx="132588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9CA3AF"/>
                </a:solidFill>
              </a:defRPr>
            </a:pPr>
            <a:r>
              <a:t>Domain constraint</a:t>
            </a:r>
          </a:p>
          <a:p>
            <a:pPr algn="ctr">
              <a:defRPr sz="800">
                <a:solidFill>
                  <a:srgbClr val="9CA3AF"/>
                </a:solidFill>
              </a:defRPr>
            </a:pPr>
            <a:r>
              <a:t>injected</a:t>
            </a:r>
          </a:p>
        </p:txBody>
      </p:sp>
      <p:sp>
        <p:nvSpPr>
          <p:cNvPr id="110" name="Shape 19"/>
          <p:cNvSpPr/>
          <p:nvPr/>
        </p:nvSpPr>
        <p:spPr>
          <a:xfrm>
            <a:off x="3410711" y="1901951"/>
            <a:ext cx="228601" cy="27433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Shape 20"/>
          <p:cNvSpPr/>
          <p:nvPr/>
        </p:nvSpPr>
        <p:spPr>
          <a:xfrm>
            <a:off x="3611879" y="1856232"/>
            <a:ext cx="73154" cy="118873"/>
          </a:xfrm>
          <a:prstGeom prst="triangle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Shape 21"/>
          <p:cNvSpPr/>
          <p:nvPr/>
        </p:nvSpPr>
        <p:spPr>
          <a:xfrm>
            <a:off x="3694176" y="1097279"/>
            <a:ext cx="1417321" cy="1874522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" name="Shape 22"/>
          <p:cNvSpPr/>
          <p:nvPr/>
        </p:nvSpPr>
        <p:spPr>
          <a:xfrm>
            <a:off x="3694176" y="1097280"/>
            <a:ext cx="1417321" cy="5486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Shape 23"/>
          <p:cNvSpPr/>
          <p:nvPr/>
        </p:nvSpPr>
        <p:spPr>
          <a:xfrm>
            <a:off x="4224528" y="1188719"/>
            <a:ext cx="347473" cy="347473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24"/>
          <p:cNvSpPr txBox="1"/>
          <p:nvPr/>
        </p:nvSpPr>
        <p:spPr>
          <a:xfrm>
            <a:off x="4224528" y="1295322"/>
            <a:ext cx="34747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0B981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6" name="Text 25"/>
          <p:cNvSpPr txBox="1"/>
          <p:nvPr/>
        </p:nvSpPr>
        <p:spPr>
          <a:xfrm>
            <a:off x="4041647" y="1612900"/>
            <a:ext cx="713233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🔤</a:t>
            </a:r>
          </a:p>
        </p:txBody>
      </p:sp>
      <p:sp>
        <p:nvSpPr>
          <p:cNvPr id="117" name="Text 26"/>
          <p:cNvSpPr txBox="1"/>
          <p:nvPr/>
        </p:nvSpPr>
        <p:spPr>
          <a:xfrm>
            <a:off x="3739896" y="2196006"/>
            <a:ext cx="13258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9FAFB"/>
                </a:solidFill>
              </a:defRPr>
            </a:lvl1pPr>
          </a:lstStyle>
          <a:p>
            <a:pPr/>
            <a:r>
              <a:t>Tokenizer</a:t>
            </a:r>
          </a:p>
        </p:txBody>
      </p:sp>
      <p:sp>
        <p:nvSpPr>
          <p:cNvPr id="118" name="Text 27"/>
          <p:cNvSpPr txBox="1"/>
          <p:nvPr/>
        </p:nvSpPr>
        <p:spPr>
          <a:xfrm>
            <a:off x="3739896" y="2490251"/>
            <a:ext cx="132588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9CA3AF"/>
                </a:solidFill>
              </a:defRPr>
            </a:pPr>
            <a:r>
              <a:t>32K vocab</a:t>
            </a:r>
          </a:p>
          <a:p>
            <a:pPr algn="ctr">
              <a:defRPr sz="800">
                <a:solidFill>
                  <a:srgbClr val="9CA3AF"/>
                </a:solidFill>
              </a:defRPr>
            </a:pPr>
            <a:r>
              <a:t>max 512 tokens</a:t>
            </a:r>
          </a:p>
        </p:txBody>
      </p:sp>
      <p:sp>
        <p:nvSpPr>
          <p:cNvPr id="119" name="Shape 28"/>
          <p:cNvSpPr/>
          <p:nvPr/>
        </p:nvSpPr>
        <p:spPr>
          <a:xfrm>
            <a:off x="5129784" y="1901951"/>
            <a:ext cx="228601" cy="27433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29"/>
          <p:cNvSpPr/>
          <p:nvPr/>
        </p:nvSpPr>
        <p:spPr>
          <a:xfrm>
            <a:off x="5330952" y="1856232"/>
            <a:ext cx="73153" cy="118873"/>
          </a:xfrm>
          <a:prstGeom prst="triangle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Shape 30"/>
          <p:cNvSpPr/>
          <p:nvPr/>
        </p:nvSpPr>
        <p:spPr>
          <a:xfrm>
            <a:off x="5413247" y="1097279"/>
            <a:ext cx="1417321" cy="1874522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" name="Shape 31"/>
          <p:cNvSpPr/>
          <p:nvPr/>
        </p:nvSpPr>
        <p:spPr>
          <a:xfrm>
            <a:off x="5413247" y="1097280"/>
            <a:ext cx="1417321" cy="5486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Shape 32"/>
          <p:cNvSpPr/>
          <p:nvPr/>
        </p:nvSpPr>
        <p:spPr>
          <a:xfrm>
            <a:off x="5943599" y="1188719"/>
            <a:ext cx="347474" cy="347473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33"/>
          <p:cNvSpPr txBox="1"/>
          <p:nvPr/>
        </p:nvSpPr>
        <p:spPr>
          <a:xfrm>
            <a:off x="5943599" y="1295322"/>
            <a:ext cx="34747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5" name="Text 34"/>
          <p:cNvSpPr txBox="1"/>
          <p:nvPr/>
        </p:nvSpPr>
        <p:spPr>
          <a:xfrm>
            <a:off x="5760720" y="1612900"/>
            <a:ext cx="713233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🧠</a:t>
            </a:r>
          </a:p>
        </p:txBody>
      </p:sp>
      <p:sp>
        <p:nvSpPr>
          <p:cNvPr id="126" name="Text 35"/>
          <p:cNvSpPr txBox="1"/>
          <p:nvPr/>
        </p:nvSpPr>
        <p:spPr>
          <a:xfrm>
            <a:off x="5458967" y="2196006"/>
            <a:ext cx="13258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9FAFB"/>
                </a:solidFill>
              </a:defRPr>
            </a:lvl1pPr>
          </a:lstStyle>
          <a:p>
            <a:pPr/>
            <a:r>
              <a:t>TinyLlama + LoRA</a:t>
            </a:r>
          </a:p>
        </p:txBody>
      </p:sp>
      <p:sp>
        <p:nvSpPr>
          <p:cNvPr id="127" name="Text 36"/>
          <p:cNvSpPr txBox="1"/>
          <p:nvPr/>
        </p:nvSpPr>
        <p:spPr>
          <a:xfrm>
            <a:off x="5458967" y="2490251"/>
            <a:ext cx="132588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9CA3AF"/>
                </a:solidFill>
              </a:defRPr>
            </a:pPr>
            <a:r>
              <a:t>1.1B params</a:t>
            </a:r>
          </a:p>
          <a:p>
            <a:pPr algn="ctr">
              <a:defRPr sz="800">
                <a:solidFill>
                  <a:srgbClr val="9CA3AF"/>
                </a:solidFill>
              </a:defRPr>
            </a:pPr>
            <a:r>
              <a:t>LoRA adapter</a:t>
            </a:r>
          </a:p>
        </p:txBody>
      </p:sp>
      <p:sp>
        <p:nvSpPr>
          <p:cNvPr id="128" name="Shape 37"/>
          <p:cNvSpPr/>
          <p:nvPr/>
        </p:nvSpPr>
        <p:spPr>
          <a:xfrm>
            <a:off x="6848856" y="1901951"/>
            <a:ext cx="228601" cy="27433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Shape 38"/>
          <p:cNvSpPr/>
          <p:nvPr/>
        </p:nvSpPr>
        <p:spPr>
          <a:xfrm>
            <a:off x="7050023" y="1856232"/>
            <a:ext cx="73154" cy="118873"/>
          </a:xfrm>
          <a:prstGeom prst="triangle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Shape 39"/>
          <p:cNvSpPr/>
          <p:nvPr/>
        </p:nvSpPr>
        <p:spPr>
          <a:xfrm>
            <a:off x="7132319" y="1097279"/>
            <a:ext cx="1417321" cy="1874522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" name="Shape 40"/>
          <p:cNvSpPr/>
          <p:nvPr/>
        </p:nvSpPr>
        <p:spPr>
          <a:xfrm>
            <a:off x="7132319" y="1097280"/>
            <a:ext cx="1417321" cy="5486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Shape 41"/>
          <p:cNvSpPr/>
          <p:nvPr/>
        </p:nvSpPr>
        <p:spPr>
          <a:xfrm>
            <a:off x="7662671" y="1188719"/>
            <a:ext cx="347473" cy="347473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42"/>
          <p:cNvSpPr txBox="1"/>
          <p:nvPr/>
        </p:nvSpPr>
        <p:spPr>
          <a:xfrm>
            <a:off x="7662671" y="1295322"/>
            <a:ext cx="34747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0B981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4" name="Text 43"/>
          <p:cNvSpPr txBox="1"/>
          <p:nvPr/>
        </p:nvSpPr>
        <p:spPr>
          <a:xfrm>
            <a:off x="7479792" y="1612900"/>
            <a:ext cx="713233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✅</a:t>
            </a:r>
          </a:p>
        </p:txBody>
      </p:sp>
      <p:sp>
        <p:nvSpPr>
          <p:cNvPr id="135" name="Text 44"/>
          <p:cNvSpPr txBox="1"/>
          <p:nvPr/>
        </p:nvSpPr>
        <p:spPr>
          <a:xfrm>
            <a:off x="7178040" y="2196006"/>
            <a:ext cx="13258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9FAFB"/>
                </a:solidFill>
              </a:defRPr>
            </a:lvl1pPr>
          </a:lstStyle>
          <a:p>
            <a:pPr/>
            <a:r>
              <a:t>Response</a:t>
            </a:r>
          </a:p>
        </p:txBody>
      </p:sp>
      <p:sp>
        <p:nvSpPr>
          <p:cNvPr id="136" name="Text 45"/>
          <p:cNvSpPr txBox="1"/>
          <p:nvPr/>
        </p:nvSpPr>
        <p:spPr>
          <a:xfrm>
            <a:off x="7178040" y="2490251"/>
            <a:ext cx="132588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9CA3AF"/>
                </a:solidFill>
              </a:defRPr>
            </a:pPr>
            <a:r>
              <a:t>60–180 tokens</a:t>
            </a:r>
          </a:p>
          <a:p>
            <a:pPr algn="ctr">
              <a:defRPr sz="800">
                <a:solidFill>
                  <a:srgbClr val="9CA3AF"/>
                </a:solidFill>
              </a:defRPr>
            </a:pPr>
            <a:r>
              <a:t>temp = 0.45</a:t>
            </a:r>
          </a:p>
        </p:txBody>
      </p:sp>
      <p:sp>
        <p:nvSpPr>
          <p:cNvPr id="137" name="Shape 46"/>
          <p:cNvSpPr/>
          <p:nvPr/>
        </p:nvSpPr>
        <p:spPr>
          <a:xfrm>
            <a:off x="457200" y="3154679"/>
            <a:ext cx="8229600" cy="685801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47"/>
          <p:cNvSpPr txBox="1"/>
          <p:nvPr/>
        </p:nvSpPr>
        <p:spPr>
          <a:xfrm>
            <a:off x="640079" y="3430446"/>
            <a:ext cx="78638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06B6D4"/>
                </a:solidFill>
              </a:defRPr>
            </a:pPr>
            <a:r>
              <a:t>Generation Strategy: </a:t>
            </a:r>
            <a:r>
              <a:rPr b="0">
                <a:solidFill>
                  <a:srgbClr val="9CA3AF"/>
                </a:solidFill>
              </a:rPr>
              <a:t>Temperature 0.45  •  Top-p 0.8  •  Repetition Penalty 1.2  •  Min 60 / Max 180 tokens  •  Hardware: Apple MPS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8321040" y="-1"/>
            <a:ext cx="822961" cy="8229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1"/>
          <p:cNvSpPr txBox="1"/>
          <p:nvPr/>
        </p:nvSpPr>
        <p:spPr>
          <a:xfrm>
            <a:off x="457200" y="326523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9FAFB"/>
                </a:solidFill>
              </a:defRPr>
            </a:lvl1pPr>
          </a:lstStyle>
          <a:p>
            <a:pPr/>
            <a:r>
              <a:t>Fine-Tuning Approach</a:t>
            </a:r>
          </a:p>
        </p:txBody>
      </p:sp>
      <p:sp>
        <p:nvSpPr>
          <p:cNvPr id="142" name="Shape 2"/>
          <p:cNvSpPr/>
          <p:nvPr/>
        </p:nvSpPr>
        <p:spPr>
          <a:xfrm>
            <a:off x="457200" y="347472"/>
            <a:ext cx="109728" cy="109729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Shape 3"/>
          <p:cNvSpPr/>
          <p:nvPr/>
        </p:nvSpPr>
        <p:spPr>
          <a:xfrm>
            <a:off x="457200" y="960120"/>
            <a:ext cx="41148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" name="Shape 4"/>
          <p:cNvSpPr/>
          <p:nvPr/>
        </p:nvSpPr>
        <p:spPr>
          <a:xfrm>
            <a:off x="457200" y="960120"/>
            <a:ext cx="54864" cy="3840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5"/>
          <p:cNvSpPr txBox="1"/>
          <p:nvPr/>
        </p:nvSpPr>
        <p:spPr>
          <a:xfrm>
            <a:off x="640079" y="1038097"/>
            <a:ext cx="374904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0B981"/>
                </a:solidFill>
              </a:defRPr>
            </a:lvl1pPr>
          </a:lstStyle>
          <a:p>
            <a:pPr/>
            <a:r>
              <a:t>⚡  LoRA Fine-Tuning</a:t>
            </a:r>
          </a:p>
        </p:txBody>
      </p:sp>
      <p:sp>
        <p:nvSpPr>
          <p:cNvPr id="146" name="Text 6"/>
          <p:cNvSpPr txBox="1"/>
          <p:nvPr/>
        </p:nvSpPr>
        <p:spPr>
          <a:xfrm>
            <a:off x="685800" y="1469058"/>
            <a:ext cx="3657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6B6D4"/>
                </a:solidFill>
              </a:defRPr>
            </a:lvl1pPr>
          </a:lstStyle>
          <a:p>
            <a:pPr/>
            <a:r>
              <a:t>Why LoRA?</a:t>
            </a:r>
          </a:p>
        </p:txBody>
      </p:sp>
      <p:sp>
        <p:nvSpPr>
          <p:cNvPr id="147" name="Text 7"/>
          <p:cNvSpPr txBox="1"/>
          <p:nvPr/>
        </p:nvSpPr>
        <p:spPr>
          <a:xfrm>
            <a:off x="685800" y="1659426"/>
            <a:ext cx="365760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/>
            <a:r>
              <a:t>Trains only a tiny fraction of parameters (adapters), saving memory and time versus full fine-tuning.</a:t>
            </a:r>
          </a:p>
        </p:txBody>
      </p:sp>
      <p:sp>
        <p:nvSpPr>
          <p:cNvPr id="148" name="Text 8"/>
          <p:cNvSpPr txBox="1"/>
          <p:nvPr/>
        </p:nvSpPr>
        <p:spPr>
          <a:xfrm>
            <a:off x="685800" y="2090850"/>
            <a:ext cx="3657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6B6D4"/>
                </a:solidFill>
              </a:defRPr>
            </a:lvl1pPr>
          </a:lstStyle>
          <a:p>
            <a:pPr/>
            <a:r>
              <a:t>Rank (r = 8)</a:t>
            </a:r>
          </a:p>
        </p:txBody>
      </p:sp>
      <p:sp>
        <p:nvSpPr>
          <p:cNvPr id="149" name="Text 9"/>
          <p:cNvSpPr txBox="1"/>
          <p:nvPr/>
        </p:nvSpPr>
        <p:spPr>
          <a:xfrm>
            <a:off x="685800" y="2281218"/>
            <a:ext cx="365760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/>
            <a:r>
              <a:t>Low-rank matrices injected into attention layers — efficient and effective.</a:t>
            </a:r>
          </a:p>
        </p:txBody>
      </p:sp>
      <p:sp>
        <p:nvSpPr>
          <p:cNvPr id="150" name="Text 10"/>
          <p:cNvSpPr txBox="1"/>
          <p:nvPr/>
        </p:nvSpPr>
        <p:spPr>
          <a:xfrm>
            <a:off x="685800" y="2712642"/>
            <a:ext cx="3657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6B6D4"/>
                </a:solidFill>
              </a:defRPr>
            </a:lvl1pPr>
          </a:lstStyle>
          <a:p>
            <a:pPr/>
            <a:r>
              <a:t>Alpha = 16</a:t>
            </a:r>
          </a:p>
        </p:txBody>
      </p:sp>
      <p:sp>
        <p:nvSpPr>
          <p:cNvPr id="151" name="Text 11"/>
          <p:cNvSpPr txBox="1"/>
          <p:nvPr/>
        </p:nvSpPr>
        <p:spPr>
          <a:xfrm>
            <a:off x="685800" y="2903010"/>
            <a:ext cx="365760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/>
            <a:r>
              <a:t>Scaling factor that controls how strongly the LoRA update influences the model.</a:t>
            </a:r>
          </a:p>
        </p:txBody>
      </p:sp>
      <p:sp>
        <p:nvSpPr>
          <p:cNvPr id="152" name="Text 12"/>
          <p:cNvSpPr txBox="1"/>
          <p:nvPr/>
        </p:nvSpPr>
        <p:spPr>
          <a:xfrm>
            <a:off x="685800" y="3334434"/>
            <a:ext cx="36576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6B6D4"/>
                </a:solidFill>
              </a:defRPr>
            </a:lvl1pPr>
          </a:lstStyle>
          <a:p>
            <a:pPr/>
            <a:r>
              <a:t>Target Layers</a:t>
            </a:r>
          </a:p>
        </p:txBody>
      </p:sp>
      <p:sp>
        <p:nvSpPr>
          <p:cNvPr id="153" name="Text 13"/>
          <p:cNvSpPr txBox="1"/>
          <p:nvPr/>
        </p:nvSpPr>
        <p:spPr>
          <a:xfrm>
            <a:off x="685800" y="3524802"/>
            <a:ext cx="365760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/>
            <a:r>
              <a:t>query projection (q_proj) and value projection (v_proj) of the transformer.</a:t>
            </a:r>
          </a:p>
        </p:txBody>
      </p:sp>
      <p:sp>
        <p:nvSpPr>
          <p:cNvPr id="154" name="Text 14"/>
          <p:cNvSpPr txBox="1"/>
          <p:nvPr/>
        </p:nvSpPr>
        <p:spPr>
          <a:xfrm>
            <a:off x="685800" y="3956226"/>
            <a:ext cx="3657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6B6D4"/>
                </a:solidFill>
              </a:defRPr>
            </a:lvl1pPr>
          </a:lstStyle>
          <a:p>
            <a:pPr/>
            <a:r>
              <a:t>Adapter Size</a:t>
            </a:r>
          </a:p>
        </p:txBody>
      </p:sp>
      <p:sp>
        <p:nvSpPr>
          <p:cNvPr id="155" name="Text 15"/>
          <p:cNvSpPr txBox="1"/>
          <p:nvPr/>
        </p:nvSpPr>
        <p:spPr>
          <a:xfrm>
            <a:off x="685800" y="4229144"/>
            <a:ext cx="36576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/>
            <a:r>
              <a:t>Only ~20 MB of trainable weights — vs. 2.1 GB full model.</a:t>
            </a:r>
          </a:p>
        </p:txBody>
      </p:sp>
      <p:sp>
        <p:nvSpPr>
          <p:cNvPr id="156" name="Shape 16"/>
          <p:cNvSpPr/>
          <p:nvPr/>
        </p:nvSpPr>
        <p:spPr>
          <a:xfrm>
            <a:off x="4754879" y="960120"/>
            <a:ext cx="3931921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" name="Shape 17"/>
          <p:cNvSpPr/>
          <p:nvPr/>
        </p:nvSpPr>
        <p:spPr>
          <a:xfrm>
            <a:off x="4754879" y="960120"/>
            <a:ext cx="54865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18"/>
          <p:cNvSpPr txBox="1"/>
          <p:nvPr/>
        </p:nvSpPr>
        <p:spPr>
          <a:xfrm>
            <a:off x="4937759" y="1027937"/>
            <a:ext cx="356616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6B6D4"/>
                </a:solidFill>
              </a:defRPr>
            </a:lvl1pPr>
          </a:lstStyle>
          <a:p>
            <a:pPr/>
            <a:r>
              <a:t>📂  Training Dataset</a:t>
            </a:r>
          </a:p>
        </p:txBody>
      </p:sp>
      <p:sp>
        <p:nvSpPr>
          <p:cNvPr id="159" name="Text 19"/>
          <p:cNvSpPr txBox="1"/>
          <p:nvPr/>
        </p:nvSpPr>
        <p:spPr>
          <a:xfrm>
            <a:off x="4937759" y="1458512"/>
            <a:ext cx="19202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/>
            <a:r>
              <a:t>Total Q&amp;A Pairs</a:t>
            </a:r>
          </a:p>
        </p:txBody>
      </p:sp>
      <p:sp>
        <p:nvSpPr>
          <p:cNvPr id="160" name="Text 20"/>
          <p:cNvSpPr txBox="1"/>
          <p:nvPr/>
        </p:nvSpPr>
        <p:spPr>
          <a:xfrm>
            <a:off x="6857999" y="1458512"/>
            <a:ext cx="1645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9FAFB"/>
                </a:solidFill>
              </a:defRPr>
            </a:lvl1pPr>
          </a:lstStyle>
          <a:p>
            <a:pPr/>
            <a:r>
              <a:t>500</a:t>
            </a:r>
          </a:p>
        </p:txBody>
      </p:sp>
      <p:sp>
        <p:nvSpPr>
          <p:cNvPr id="161" name="Text 21"/>
          <p:cNvSpPr txBox="1"/>
          <p:nvPr/>
        </p:nvSpPr>
        <p:spPr>
          <a:xfrm>
            <a:off x="4937759" y="1769408"/>
            <a:ext cx="19202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/>
            <a:r>
              <a:t>Training Split</a:t>
            </a:r>
          </a:p>
        </p:txBody>
      </p:sp>
      <p:sp>
        <p:nvSpPr>
          <p:cNvPr id="162" name="Text 22"/>
          <p:cNvSpPr txBox="1"/>
          <p:nvPr/>
        </p:nvSpPr>
        <p:spPr>
          <a:xfrm>
            <a:off x="6857999" y="1769408"/>
            <a:ext cx="1645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9FAFB"/>
                </a:solidFill>
              </a:defRPr>
            </a:lvl1pPr>
          </a:lstStyle>
          <a:p>
            <a:pPr/>
            <a:r>
              <a:t>450 (90%)</a:t>
            </a:r>
          </a:p>
        </p:txBody>
      </p:sp>
      <p:sp>
        <p:nvSpPr>
          <p:cNvPr id="163" name="Text 23"/>
          <p:cNvSpPr txBox="1"/>
          <p:nvPr/>
        </p:nvSpPr>
        <p:spPr>
          <a:xfrm>
            <a:off x="4937759" y="2080304"/>
            <a:ext cx="19202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/>
            <a:r>
              <a:t>Test Split</a:t>
            </a:r>
          </a:p>
        </p:txBody>
      </p:sp>
      <p:sp>
        <p:nvSpPr>
          <p:cNvPr id="164" name="Text 24"/>
          <p:cNvSpPr txBox="1"/>
          <p:nvPr/>
        </p:nvSpPr>
        <p:spPr>
          <a:xfrm>
            <a:off x="6857999" y="2080304"/>
            <a:ext cx="1645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9FAFB"/>
                </a:solidFill>
              </a:defRPr>
            </a:lvl1pPr>
          </a:lstStyle>
          <a:p>
            <a:pPr/>
            <a:r>
              <a:t>50 (10%)</a:t>
            </a:r>
          </a:p>
        </p:txBody>
      </p:sp>
      <p:sp>
        <p:nvSpPr>
          <p:cNvPr id="165" name="Text 25"/>
          <p:cNvSpPr txBox="1"/>
          <p:nvPr/>
        </p:nvSpPr>
        <p:spPr>
          <a:xfrm>
            <a:off x="4937759" y="2391200"/>
            <a:ext cx="19202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/>
            <a:r>
              <a:t>Domain Focus</a:t>
            </a:r>
          </a:p>
        </p:txBody>
      </p:sp>
      <p:sp>
        <p:nvSpPr>
          <p:cNvPr id="166" name="Text 26"/>
          <p:cNvSpPr txBox="1"/>
          <p:nvPr/>
        </p:nvSpPr>
        <p:spPr>
          <a:xfrm>
            <a:off x="6857999" y="2391200"/>
            <a:ext cx="1645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9FAFB"/>
                </a:solidFill>
              </a:defRPr>
            </a:lvl1pPr>
          </a:lstStyle>
          <a:p>
            <a:pPr/>
            <a:r>
              <a:t>Drone / Wildlife</a:t>
            </a:r>
          </a:p>
        </p:txBody>
      </p:sp>
      <p:sp>
        <p:nvSpPr>
          <p:cNvPr id="167" name="Shape 27"/>
          <p:cNvSpPr/>
          <p:nvPr/>
        </p:nvSpPr>
        <p:spPr>
          <a:xfrm>
            <a:off x="4754879" y="2788920"/>
            <a:ext cx="3931921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" name="Shape 28"/>
          <p:cNvSpPr/>
          <p:nvPr/>
        </p:nvSpPr>
        <p:spPr>
          <a:xfrm>
            <a:off x="4754879" y="2788920"/>
            <a:ext cx="54865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29"/>
          <p:cNvSpPr txBox="1"/>
          <p:nvPr/>
        </p:nvSpPr>
        <p:spPr>
          <a:xfrm>
            <a:off x="4937759" y="2856737"/>
            <a:ext cx="356616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3B82F6"/>
                </a:solidFill>
              </a:defRPr>
            </a:lvl1pPr>
          </a:lstStyle>
          <a:p>
            <a:pPr/>
            <a:r>
              <a:t>🤖  Base Model: TinyLlama-1.1B</a:t>
            </a:r>
          </a:p>
        </p:txBody>
      </p:sp>
      <p:sp>
        <p:nvSpPr>
          <p:cNvPr id="170" name="Text 30"/>
          <p:cNvSpPr txBox="1"/>
          <p:nvPr/>
        </p:nvSpPr>
        <p:spPr>
          <a:xfrm>
            <a:off x="4937759" y="3269024"/>
            <a:ext cx="1645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/>
            <a:r>
              <a:t>Parameters</a:t>
            </a:r>
          </a:p>
        </p:txBody>
      </p:sp>
      <p:sp>
        <p:nvSpPr>
          <p:cNvPr id="171" name="Text 31"/>
          <p:cNvSpPr txBox="1"/>
          <p:nvPr/>
        </p:nvSpPr>
        <p:spPr>
          <a:xfrm>
            <a:off x="6583680" y="3269024"/>
            <a:ext cx="19202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9FAFB"/>
                </a:solidFill>
              </a:defRPr>
            </a:lvl1pPr>
          </a:lstStyle>
          <a:p>
            <a:pPr/>
            <a:r>
              <a:t>1.1 Billion</a:t>
            </a:r>
          </a:p>
        </p:txBody>
      </p:sp>
      <p:sp>
        <p:nvSpPr>
          <p:cNvPr id="172" name="Text 32"/>
          <p:cNvSpPr txBox="1"/>
          <p:nvPr/>
        </p:nvSpPr>
        <p:spPr>
          <a:xfrm>
            <a:off x="4937759" y="3579920"/>
            <a:ext cx="1645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/>
            <a:r>
              <a:t>Layers</a:t>
            </a:r>
          </a:p>
        </p:txBody>
      </p:sp>
      <p:sp>
        <p:nvSpPr>
          <p:cNvPr id="173" name="Text 33"/>
          <p:cNvSpPr txBox="1"/>
          <p:nvPr/>
        </p:nvSpPr>
        <p:spPr>
          <a:xfrm>
            <a:off x="6583680" y="3579920"/>
            <a:ext cx="19202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9FAFB"/>
                </a:solidFill>
              </a:defRPr>
            </a:lvl1pPr>
          </a:lstStyle>
          <a:p>
            <a:pPr/>
            <a:r>
              <a:t>22 transformer layers</a:t>
            </a:r>
          </a:p>
        </p:txBody>
      </p:sp>
      <p:sp>
        <p:nvSpPr>
          <p:cNvPr id="174" name="Text 34"/>
          <p:cNvSpPr txBox="1"/>
          <p:nvPr/>
        </p:nvSpPr>
        <p:spPr>
          <a:xfrm>
            <a:off x="4937759" y="3890816"/>
            <a:ext cx="1645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/>
            <a:r>
              <a:t>Attention Heads</a:t>
            </a:r>
          </a:p>
        </p:txBody>
      </p:sp>
      <p:sp>
        <p:nvSpPr>
          <p:cNvPr id="175" name="Text 35"/>
          <p:cNvSpPr txBox="1"/>
          <p:nvPr/>
        </p:nvSpPr>
        <p:spPr>
          <a:xfrm>
            <a:off x="6583680" y="3890816"/>
            <a:ext cx="19202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9FAFB"/>
                </a:solidFill>
              </a:defRPr>
            </a:lvl1pPr>
          </a:lstStyle>
          <a:p>
            <a:pPr/>
            <a:r>
              <a:t>32 heads</a:t>
            </a:r>
          </a:p>
        </p:txBody>
      </p:sp>
      <p:sp>
        <p:nvSpPr>
          <p:cNvPr id="176" name="Text 36"/>
          <p:cNvSpPr txBox="1"/>
          <p:nvPr/>
        </p:nvSpPr>
        <p:spPr>
          <a:xfrm>
            <a:off x="4937759" y="4201712"/>
            <a:ext cx="1645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/>
            <a:r>
              <a:t>Vocab Size</a:t>
            </a:r>
          </a:p>
        </p:txBody>
      </p:sp>
      <p:sp>
        <p:nvSpPr>
          <p:cNvPr id="177" name="Text 37"/>
          <p:cNvSpPr txBox="1"/>
          <p:nvPr/>
        </p:nvSpPr>
        <p:spPr>
          <a:xfrm>
            <a:off x="6583680" y="4201712"/>
            <a:ext cx="19202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9FAFB"/>
                </a:solidFill>
              </a:defRPr>
            </a:lvl1pPr>
          </a:lstStyle>
          <a:p>
            <a:pPr/>
            <a:r>
              <a:t>32,000 tokens</a:t>
            </a:r>
          </a:p>
        </p:txBody>
      </p:sp>
      <p:sp>
        <p:nvSpPr>
          <p:cNvPr id="178" name="Text 38"/>
          <p:cNvSpPr txBox="1"/>
          <p:nvPr/>
        </p:nvSpPr>
        <p:spPr>
          <a:xfrm>
            <a:off x="4937759" y="4512608"/>
            <a:ext cx="16459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/>
            <a:r>
              <a:t>Max Context</a:t>
            </a:r>
          </a:p>
        </p:txBody>
      </p:sp>
      <p:sp>
        <p:nvSpPr>
          <p:cNvPr id="179" name="Text 39"/>
          <p:cNvSpPr txBox="1"/>
          <p:nvPr/>
        </p:nvSpPr>
        <p:spPr>
          <a:xfrm>
            <a:off x="6583680" y="4512608"/>
            <a:ext cx="19202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9FAFB"/>
                </a:solidFill>
              </a:defRPr>
            </a:lvl1pPr>
          </a:lstStyle>
          <a:p>
            <a:pPr/>
            <a:r>
              <a:t>2,048 tokens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8321040" y="-1"/>
            <a:ext cx="822961" cy="8229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1"/>
          <p:cNvSpPr txBox="1"/>
          <p:nvPr/>
        </p:nvSpPr>
        <p:spPr>
          <a:xfrm>
            <a:off x="457200" y="326523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9FAFB"/>
                </a:solidFill>
              </a:defRPr>
            </a:lvl1pPr>
          </a:lstStyle>
          <a:p>
            <a:pPr/>
            <a:r>
              <a:t>Training Configuration</a:t>
            </a:r>
          </a:p>
        </p:txBody>
      </p:sp>
      <p:sp>
        <p:nvSpPr>
          <p:cNvPr id="183" name="Shape 2"/>
          <p:cNvSpPr/>
          <p:nvPr/>
        </p:nvSpPr>
        <p:spPr>
          <a:xfrm>
            <a:off x="457200" y="347472"/>
            <a:ext cx="109728" cy="10972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Shape 3"/>
          <p:cNvSpPr/>
          <p:nvPr/>
        </p:nvSpPr>
        <p:spPr>
          <a:xfrm>
            <a:off x="457200" y="987552"/>
            <a:ext cx="3886200" cy="68580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" name="Shape 4"/>
          <p:cNvSpPr/>
          <p:nvPr/>
        </p:nvSpPr>
        <p:spPr>
          <a:xfrm>
            <a:off x="594359" y="1152144"/>
            <a:ext cx="365761" cy="365761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5"/>
          <p:cNvSpPr txBox="1"/>
          <p:nvPr/>
        </p:nvSpPr>
        <p:spPr>
          <a:xfrm>
            <a:off x="594359" y="1169924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📈</a:t>
            </a:r>
          </a:p>
        </p:txBody>
      </p:sp>
      <p:sp>
        <p:nvSpPr>
          <p:cNvPr id="187" name="Text 6"/>
          <p:cNvSpPr txBox="1"/>
          <p:nvPr/>
        </p:nvSpPr>
        <p:spPr>
          <a:xfrm>
            <a:off x="1051560" y="1134363"/>
            <a:ext cx="3108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/>
            <a:r>
              <a:t>Learning Rate</a:t>
            </a:r>
          </a:p>
        </p:txBody>
      </p:sp>
      <p:sp>
        <p:nvSpPr>
          <p:cNvPr id="188" name="Text 7"/>
          <p:cNvSpPr txBox="1"/>
          <p:nvPr/>
        </p:nvSpPr>
        <p:spPr>
          <a:xfrm>
            <a:off x="1051560" y="1359216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9FAFB"/>
                </a:solidFill>
              </a:defRPr>
            </a:lvl1pPr>
          </a:lstStyle>
          <a:p>
            <a:pPr/>
            <a:r>
              <a:t>2e-4</a:t>
            </a:r>
          </a:p>
        </p:txBody>
      </p:sp>
      <p:sp>
        <p:nvSpPr>
          <p:cNvPr id="189" name="Shape 8"/>
          <p:cNvSpPr/>
          <p:nvPr/>
        </p:nvSpPr>
        <p:spPr>
          <a:xfrm>
            <a:off x="457200" y="1783079"/>
            <a:ext cx="3886200" cy="68580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" name="Shape 9"/>
          <p:cNvSpPr/>
          <p:nvPr/>
        </p:nvSpPr>
        <p:spPr>
          <a:xfrm>
            <a:off x="594359" y="1947672"/>
            <a:ext cx="365761" cy="365761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10"/>
          <p:cNvSpPr txBox="1"/>
          <p:nvPr/>
        </p:nvSpPr>
        <p:spPr>
          <a:xfrm>
            <a:off x="594359" y="1965452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🔁</a:t>
            </a:r>
          </a:p>
        </p:txBody>
      </p:sp>
      <p:sp>
        <p:nvSpPr>
          <p:cNvPr id="192" name="Text 11"/>
          <p:cNvSpPr txBox="1"/>
          <p:nvPr/>
        </p:nvSpPr>
        <p:spPr>
          <a:xfrm>
            <a:off x="1051560" y="1929891"/>
            <a:ext cx="3108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/>
            <a:r>
              <a:t>Epochs</a:t>
            </a:r>
          </a:p>
        </p:txBody>
      </p:sp>
      <p:sp>
        <p:nvSpPr>
          <p:cNvPr id="193" name="Text 12"/>
          <p:cNvSpPr txBox="1"/>
          <p:nvPr/>
        </p:nvSpPr>
        <p:spPr>
          <a:xfrm>
            <a:off x="1051560" y="2154744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9FAFB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94" name="Shape 13"/>
          <p:cNvSpPr/>
          <p:nvPr/>
        </p:nvSpPr>
        <p:spPr>
          <a:xfrm>
            <a:off x="457200" y="2578607"/>
            <a:ext cx="3886200" cy="68580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" name="Shape 14"/>
          <p:cNvSpPr/>
          <p:nvPr/>
        </p:nvSpPr>
        <p:spPr>
          <a:xfrm>
            <a:off x="594359" y="2743199"/>
            <a:ext cx="365761" cy="36576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15"/>
          <p:cNvSpPr txBox="1"/>
          <p:nvPr/>
        </p:nvSpPr>
        <p:spPr>
          <a:xfrm>
            <a:off x="594359" y="2760980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📦</a:t>
            </a:r>
          </a:p>
        </p:txBody>
      </p:sp>
      <p:sp>
        <p:nvSpPr>
          <p:cNvPr id="197" name="Text 16"/>
          <p:cNvSpPr txBox="1"/>
          <p:nvPr/>
        </p:nvSpPr>
        <p:spPr>
          <a:xfrm>
            <a:off x="1051560" y="2725419"/>
            <a:ext cx="3108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/>
            <a:r>
              <a:t>Batch Size</a:t>
            </a:r>
          </a:p>
        </p:txBody>
      </p:sp>
      <p:sp>
        <p:nvSpPr>
          <p:cNvPr id="198" name="Text 17"/>
          <p:cNvSpPr txBox="1"/>
          <p:nvPr/>
        </p:nvSpPr>
        <p:spPr>
          <a:xfrm>
            <a:off x="1051560" y="2950272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9FAFB"/>
                </a:solidFill>
              </a:defRPr>
            </a:lvl1pPr>
          </a:lstStyle>
          <a:p>
            <a:pPr/>
            <a:r>
              <a:t>1 (effective: 8)</a:t>
            </a:r>
          </a:p>
        </p:txBody>
      </p:sp>
      <p:sp>
        <p:nvSpPr>
          <p:cNvPr id="199" name="Shape 18"/>
          <p:cNvSpPr/>
          <p:nvPr/>
        </p:nvSpPr>
        <p:spPr>
          <a:xfrm>
            <a:off x="457200" y="3374135"/>
            <a:ext cx="3886200" cy="68580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" name="Shape 19"/>
          <p:cNvSpPr/>
          <p:nvPr/>
        </p:nvSpPr>
        <p:spPr>
          <a:xfrm>
            <a:off x="594359" y="3538728"/>
            <a:ext cx="365761" cy="365761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20"/>
          <p:cNvSpPr txBox="1"/>
          <p:nvPr/>
        </p:nvSpPr>
        <p:spPr>
          <a:xfrm>
            <a:off x="594359" y="3556508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📏</a:t>
            </a:r>
          </a:p>
        </p:txBody>
      </p:sp>
      <p:sp>
        <p:nvSpPr>
          <p:cNvPr id="202" name="Text 21"/>
          <p:cNvSpPr txBox="1"/>
          <p:nvPr/>
        </p:nvSpPr>
        <p:spPr>
          <a:xfrm>
            <a:off x="1051560" y="3520947"/>
            <a:ext cx="3108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/>
            <a:r>
              <a:t>Max Seq Length</a:t>
            </a:r>
          </a:p>
        </p:txBody>
      </p:sp>
      <p:sp>
        <p:nvSpPr>
          <p:cNvPr id="203" name="Text 22"/>
          <p:cNvSpPr txBox="1"/>
          <p:nvPr/>
        </p:nvSpPr>
        <p:spPr>
          <a:xfrm>
            <a:off x="1051560" y="3745800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9FAFB"/>
                </a:solidFill>
              </a:defRPr>
            </a:lvl1pPr>
          </a:lstStyle>
          <a:p>
            <a:pPr/>
            <a:r>
              <a:t>512 tokens</a:t>
            </a:r>
          </a:p>
        </p:txBody>
      </p:sp>
      <p:sp>
        <p:nvSpPr>
          <p:cNvPr id="204" name="Shape 23"/>
          <p:cNvSpPr/>
          <p:nvPr/>
        </p:nvSpPr>
        <p:spPr>
          <a:xfrm>
            <a:off x="4800600" y="987552"/>
            <a:ext cx="3886200" cy="68580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" name="Shape 24"/>
          <p:cNvSpPr/>
          <p:nvPr/>
        </p:nvSpPr>
        <p:spPr>
          <a:xfrm>
            <a:off x="4937759" y="1152144"/>
            <a:ext cx="365761" cy="365761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25"/>
          <p:cNvSpPr txBox="1"/>
          <p:nvPr/>
        </p:nvSpPr>
        <p:spPr>
          <a:xfrm>
            <a:off x="4937759" y="1233424"/>
            <a:ext cx="365761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600"/>
            </a:pPr>
            <a:r>
              <a:t>⏱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️</a:t>
            </a:r>
          </a:p>
        </p:txBody>
      </p:sp>
      <p:sp>
        <p:nvSpPr>
          <p:cNvPr id="207" name="Text 26"/>
          <p:cNvSpPr txBox="1"/>
          <p:nvPr/>
        </p:nvSpPr>
        <p:spPr>
          <a:xfrm>
            <a:off x="5394959" y="1134363"/>
            <a:ext cx="3108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/>
            <a:r>
              <a:t>Training Time</a:t>
            </a:r>
          </a:p>
        </p:txBody>
      </p:sp>
      <p:sp>
        <p:nvSpPr>
          <p:cNvPr id="208" name="Text 27"/>
          <p:cNvSpPr txBox="1"/>
          <p:nvPr/>
        </p:nvSpPr>
        <p:spPr>
          <a:xfrm>
            <a:off x="5394959" y="1359216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9FAFB"/>
                </a:solidFill>
              </a:defRPr>
            </a:lvl1pPr>
          </a:lstStyle>
          <a:p>
            <a:pPr/>
            <a:r>
              <a:t>~25 minutes</a:t>
            </a:r>
          </a:p>
        </p:txBody>
      </p:sp>
      <p:sp>
        <p:nvSpPr>
          <p:cNvPr id="209" name="Shape 28"/>
          <p:cNvSpPr/>
          <p:nvPr/>
        </p:nvSpPr>
        <p:spPr>
          <a:xfrm>
            <a:off x="4800600" y="1783079"/>
            <a:ext cx="3886200" cy="68580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" name="Shape 29"/>
          <p:cNvSpPr/>
          <p:nvPr/>
        </p:nvSpPr>
        <p:spPr>
          <a:xfrm>
            <a:off x="4937759" y="1947672"/>
            <a:ext cx="365761" cy="365761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30"/>
          <p:cNvSpPr txBox="1"/>
          <p:nvPr/>
        </p:nvSpPr>
        <p:spPr>
          <a:xfrm>
            <a:off x="4937759" y="1965452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👣</a:t>
            </a:r>
          </a:p>
        </p:txBody>
      </p:sp>
      <p:sp>
        <p:nvSpPr>
          <p:cNvPr id="212" name="Text 31"/>
          <p:cNvSpPr txBox="1"/>
          <p:nvPr/>
        </p:nvSpPr>
        <p:spPr>
          <a:xfrm>
            <a:off x="5394959" y="1929891"/>
            <a:ext cx="3108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/>
            <a:r>
              <a:t>Total Steps</a:t>
            </a:r>
          </a:p>
        </p:txBody>
      </p:sp>
      <p:sp>
        <p:nvSpPr>
          <p:cNvPr id="213" name="Text 32"/>
          <p:cNvSpPr txBox="1"/>
          <p:nvPr/>
        </p:nvSpPr>
        <p:spPr>
          <a:xfrm>
            <a:off x="5394959" y="2154744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9FAFB"/>
                </a:solidFill>
              </a:defRPr>
            </a:lvl1pPr>
          </a:lstStyle>
          <a:p>
            <a:pPr/>
            <a:r>
              <a:t>171 steps</a:t>
            </a:r>
          </a:p>
        </p:txBody>
      </p:sp>
      <p:sp>
        <p:nvSpPr>
          <p:cNvPr id="214" name="Shape 33"/>
          <p:cNvSpPr/>
          <p:nvPr/>
        </p:nvSpPr>
        <p:spPr>
          <a:xfrm>
            <a:off x="4800600" y="2578607"/>
            <a:ext cx="3886200" cy="68580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" name="Shape 34"/>
          <p:cNvSpPr/>
          <p:nvPr/>
        </p:nvSpPr>
        <p:spPr>
          <a:xfrm>
            <a:off x="4937759" y="2743199"/>
            <a:ext cx="365761" cy="365762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35"/>
          <p:cNvSpPr txBox="1"/>
          <p:nvPr/>
        </p:nvSpPr>
        <p:spPr>
          <a:xfrm>
            <a:off x="4937759" y="2760980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💻</a:t>
            </a:r>
          </a:p>
        </p:txBody>
      </p:sp>
      <p:sp>
        <p:nvSpPr>
          <p:cNvPr id="217" name="Text 36"/>
          <p:cNvSpPr txBox="1"/>
          <p:nvPr/>
        </p:nvSpPr>
        <p:spPr>
          <a:xfrm>
            <a:off x="5394959" y="2725419"/>
            <a:ext cx="3108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/>
            <a:r>
              <a:t>Hardware</a:t>
            </a:r>
          </a:p>
        </p:txBody>
      </p:sp>
      <p:sp>
        <p:nvSpPr>
          <p:cNvPr id="218" name="Text 37"/>
          <p:cNvSpPr txBox="1"/>
          <p:nvPr/>
        </p:nvSpPr>
        <p:spPr>
          <a:xfrm>
            <a:off x="5394959" y="2950272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9FAFB"/>
                </a:solidFill>
              </a:defRPr>
            </a:lvl1pPr>
          </a:lstStyle>
          <a:p>
            <a:pPr/>
            <a:r>
              <a:t>Apple Silicon (MPS)</a:t>
            </a:r>
          </a:p>
        </p:txBody>
      </p:sp>
      <p:sp>
        <p:nvSpPr>
          <p:cNvPr id="219" name="Shape 38"/>
          <p:cNvSpPr/>
          <p:nvPr/>
        </p:nvSpPr>
        <p:spPr>
          <a:xfrm>
            <a:off x="4800600" y="3374135"/>
            <a:ext cx="3886200" cy="68580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" name="Shape 39"/>
          <p:cNvSpPr/>
          <p:nvPr/>
        </p:nvSpPr>
        <p:spPr>
          <a:xfrm>
            <a:off x="4937759" y="3538728"/>
            <a:ext cx="365761" cy="365761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40"/>
          <p:cNvSpPr txBox="1"/>
          <p:nvPr/>
        </p:nvSpPr>
        <p:spPr>
          <a:xfrm>
            <a:off x="4937759" y="3556508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⚙️</a:t>
            </a:r>
          </a:p>
        </p:txBody>
      </p:sp>
      <p:sp>
        <p:nvSpPr>
          <p:cNvPr id="222" name="Text 41"/>
          <p:cNvSpPr txBox="1"/>
          <p:nvPr/>
        </p:nvSpPr>
        <p:spPr>
          <a:xfrm>
            <a:off x="5394959" y="3520947"/>
            <a:ext cx="3108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/>
            <a:r>
              <a:t>Precision</a:t>
            </a:r>
          </a:p>
        </p:txBody>
      </p:sp>
      <p:sp>
        <p:nvSpPr>
          <p:cNvPr id="223" name="Text 42"/>
          <p:cNvSpPr txBox="1"/>
          <p:nvPr/>
        </p:nvSpPr>
        <p:spPr>
          <a:xfrm>
            <a:off x="5394959" y="3745800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9FAFB"/>
                </a:solidFill>
              </a:defRPr>
            </a:lvl1pPr>
          </a:lstStyle>
          <a:p>
            <a:pPr/>
            <a:r>
              <a:t>Float16 (mixed)</a:t>
            </a:r>
          </a:p>
        </p:txBody>
      </p:sp>
      <p:sp>
        <p:nvSpPr>
          <p:cNvPr id="224" name="Shape 43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44"/>
          <p:cNvSpPr txBox="1"/>
          <p:nvPr/>
        </p:nvSpPr>
        <p:spPr>
          <a:xfrm>
            <a:off x="640079" y="4696890"/>
            <a:ext cx="78638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3B82F6"/>
                </a:solidFill>
              </a:defRPr>
            </a:pPr>
            <a:r>
              <a:t>Optimizer: </a:t>
            </a:r>
            <a:r>
              <a:rPr b="0">
                <a:solidFill>
                  <a:srgbClr val="9CA3AF"/>
                </a:solidFill>
              </a:rPr>
              <a:t>AdamW   </a:t>
            </a:r>
            <a:r>
              <a:t>|  LR Schedule: </a:t>
            </a:r>
            <a:r>
              <a:rPr b="0">
                <a:solidFill>
                  <a:srgbClr val="9CA3AF"/>
                </a:solidFill>
              </a:rPr>
              <a:t>Linear decay to ~0   </a:t>
            </a:r>
            <a:r>
              <a:t>|  Gradient Accumulation: </a:t>
            </a:r>
            <a:r>
              <a:rPr b="0">
                <a:solidFill>
                  <a:srgbClr val="9CA3AF"/>
                </a:solidFill>
              </a:rPr>
              <a:t>8 steps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8321040" y="-1"/>
            <a:ext cx="822961" cy="8229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1"/>
          <p:cNvSpPr txBox="1"/>
          <p:nvPr/>
        </p:nvSpPr>
        <p:spPr>
          <a:xfrm>
            <a:off x="457200" y="326523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9FAFB"/>
                </a:solidFill>
              </a:defRPr>
            </a:lvl1pPr>
          </a:lstStyle>
          <a:p>
            <a:pPr/>
            <a:r>
              <a:t>Results &amp; Performance</a:t>
            </a:r>
          </a:p>
        </p:txBody>
      </p:sp>
      <p:sp>
        <p:nvSpPr>
          <p:cNvPr id="229" name="Shape 2"/>
          <p:cNvSpPr/>
          <p:nvPr/>
        </p:nvSpPr>
        <p:spPr>
          <a:xfrm>
            <a:off x="457200" y="347472"/>
            <a:ext cx="109728" cy="109729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Shape 3"/>
          <p:cNvSpPr/>
          <p:nvPr/>
        </p:nvSpPr>
        <p:spPr>
          <a:xfrm>
            <a:off x="6035040" y="960119"/>
            <a:ext cx="2651761" cy="749809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" name="Shape 4"/>
          <p:cNvSpPr/>
          <p:nvPr/>
        </p:nvSpPr>
        <p:spPr>
          <a:xfrm>
            <a:off x="6035040" y="960119"/>
            <a:ext cx="54865" cy="74980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5"/>
          <p:cNvSpPr txBox="1"/>
          <p:nvPr/>
        </p:nvSpPr>
        <p:spPr>
          <a:xfrm>
            <a:off x="6199632" y="1033779"/>
            <a:ext cx="2331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/>
            <a:r>
              <a:t>Initial Loss</a:t>
            </a:r>
          </a:p>
        </p:txBody>
      </p:sp>
      <p:sp>
        <p:nvSpPr>
          <p:cNvPr id="233" name="Text 6"/>
          <p:cNvSpPr txBox="1"/>
          <p:nvPr/>
        </p:nvSpPr>
        <p:spPr>
          <a:xfrm>
            <a:off x="6199632" y="1210653"/>
            <a:ext cx="233172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59E0B"/>
                </a:solidFill>
              </a:defRPr>
            </a:lvl1pPr>
          </a:lstStyle>
          <a:p>
            <a:pPr/>
            <a:r>
              <a:t>2.658</a:t>
            </a:r>
          </a:p>
        </p:txBody>
      </p:sp>
      <p:sp>
        <p:nvSpPr>
          <p:cNvPr id="234" name="Text 7"/>
          <p:cNvSpPr txBox="1"/>
          <p:nvPr/>
        </p:nvSpPr>
        <p:spPr>
          <a:xfrm>
            <a:off x="6199632" y="1518412"/>
            <a:ext cx="2331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at step 10</a:t>
            </a:r>
          </a:p>
        </p:txBody>
      </p:sp>
      <p:sp>
        <p:nvSpPr>
          <p:cNvPr id="235" name="Shape 8"/>
          <p:cNvSpPr/>
          <p:nvPr/>
        </p:nvSpPr>
        <p:spPr>
          <a:xfrm>
            <a:off x="6035040" y="1828799"/>
            <a:ext cx="2651761" cy="74981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" name="Shape 9"/>
          <p:cNvSpPr/>
          <p:nvPr/>
        </p:nvSpPr>
        <p:spPr>
          <a:xfrm>
            <a:off x="6035040" y="1828799"/>
            <a:ext cx="54865" cy="74981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ext 10"/>
          <p:cNvSpPr txBox="1"/>
          <p:nvPr/>
        </p:nvSpPr>
        <p:spPr>
          <a:xfrm>
            <a:off x="6199632" y="1902460"/>
            <a:ext cx="2331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/>
            <a:r>
              <a:t>Final Loss</a:t>
            </a:r>
          </a:p>
        </p:txBody>
      </p:sp>
      <p:sp>
        <p:nvSpPr>
          <p:cNvPr id="238" name="Text 11"/>
          <p:cNvSpPr txBox="1"/>
          <p:nvPr/>
        </p:nvSpPr>
        <p:spPr>
          <a:xfrm>
            <a:off x="6199632" y="2079333"/>
            <a:ext cx="233172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0B981"/>
                </a:solidFill>
              </a:defRPr>
            </a:lvl1pPr>
          </a:lstStyle>
          <a:p>
            <a:pPr/>
            <a:r>
              <a:t>1.844</a:t>
            </a:r>
          </a:p>
        </p:txBody>
      </p:sp>
      <p:sp>
        <p:nvSpPr>
          <p:cNvPr id="239" name="Text 12"/>
          <p:cNvSpPr txBox="1"/>
          <p:nvPr/>
        </p:nvSpPr>
        <p:spPr>
          <a:xfrm>
            <a:off x="6199632" y="2387091"/>
            <a:ext cx="2331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at step 170</a:t>
            </a:r>
          </a:p>
        </p:txBody>
      </p:sp>
      <p:sp>
        <p:nvSpPr>
          <p:cNvPr id="240" name="Shape 13"/>
          <p:cNvSpPr/>
          <p:nvPr/>
        </p:nvSpPr>
        <p:spPr>
          <a:xfrm>
            <a:off x="6035040" y="2697479"/>
            <a:ext cx="2651761" cy="749809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" name="Shape 14"/>
          <p:cNvSpPr/>
          <p:nvPr/>
        </p:nvSpPr>
        <p:spPr>
          <a:xfrm>
            <a:off x="6035040" y="2697479"/>
            <a:ext cx="54865" cy="74980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15"/>
          <p:cNvSpPr txBox="1"/>
          <p:nvPr/>
        </p:nvSpPr>
        <p:spPr>
          <a:xfrm>
            <a:off x="6199632" y="2771139"/>
            <a:ext cx="2331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/>
            <a:r>
              <a:t>Training Time</a:t>
            </a:r>
          </a:p>
        </p:txBody>
      </p:sp>
      <p:sp>
        <p:nvSpPr>
          <p:cNvPr id="243" name="Text 16"/>
          <p:cNvSpPr txBox="1"/>
          <p:nvPr/>
        </p:nvSpPr>
        <p:spPr>
          <a:xfrm>
            <a:off x="6199632" y="2948013"/>
            <a:ext cx="233172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3B82F6"/>
                </a:solidFill>
              </a:defRPr>
            </a:lvl1pPr>
          </a:lstStyle>
          <a:p>
            <a:pPr/>
            <a:r>
              <a:t>~25 min</a:t>
            </a:r>
          </a:p>
        </p:txBody>
      </p:sp>
      <p:sp>
        <p:nvSpPr>
          <p:cNvPr id="244" name="Text 17"/>
          <p:cNvSpPr txBox="1"/>
          <p:nvPr/>
        </p:nvSpPr>
        <p:spPr>
          <a:xfrm>
            <a:off x="6199632" y="3255772"/>
            <a:ext cx="2331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on Apple M-chip</a:t>
            </a:r>
          </a:p>
        </p:txBody>
      </p:sp>
      <p:sp>
        <p:nvSpPr>
          <p:cNvPr id="245" name="Shape 18"/>
          <p:cNvSpPr/>
          <p:nvPr/>
        </p:nvSpPr>
        <p:spPr>
          <a:xfrm>
            <a:off x="6035040" y="3566159"/>
            <a:ext cx="2651761" cy="749809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" name="Shape 19"/>
          <p:cNvSpPr/>
          <p:nvPr/>
        </p:nvSpPr>
        <p:spPr>
          <a:xfrm>
            <a:off x="6035040" y="3566159"/>
            <a:ext cx="54865" cy="749809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Text 20"/>
          <p:cNvSpPr txBox="1"/>
          <p:nvPr/>
        </p:nvSpPr>
        <p:spPr>
          <a:xfrm>
            <a:off x="6199632" y="3639819"/>
            <a:ext cx="2331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/>
            <a:r>
              <a:t>Total Steps</a:t>
            </a:r>
          </a:p>
        </p:txBody>
      </p:sp>
      <p:sp>
        <p:nvSpPr>
          <p:cNvPr id="248" name="Text 21"/>
          <p:cNvSpPr txBox="1"/>
          <p:nvPr/>
        </p:nvSpPr>
        <p:spPr>
          <a:xfrm>
            <a:off x="6199632" y="3816693"/>
            <a:ext cx="233172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06B6D4"/>
                </a:solidFill>
              </a:defRPr>
            </a:lvl1pPr>
          </a:lstStyle>
          <a:p>
            <a:pPr/>
            <a:r>
              <a:t>171</a:t>
            </a:r>
          </a:p>
        </p:txBody>
      </p:sp>
      <p:sp>
        <p:nvSpPr>
          <p:cNvPr id="249" name="Text 22"/>
          <p:cNvSpPr txBox="1"/>
          <p:nvPr/>
        </p:nvSpPr>
        <p:spPr>
          <a:xfrm>
            <a:off x="6199632" y="4124451"/>
            <a:ext cx="2331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3 epochs × 57 batches</a:t>
            </a:r>
          </a:p>
        </p:txBody>
      </p:sp>
      <p:sp>
        <p:nvSpPr>
          <p:cNvPr id="250" name="Shape 23"/>
          <p:cNvSpPr/>
          <p:nvPr/>
        </p:nvSpPr>
        <p:spPr>
          <a:xfrm>
            <a:off x="457200" y="4462271"/>
            <a:ext cx="8229600" cy="530353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Shape 24"/>
          <p:cNvSpPr/>
          <p:nvPr/>
        </p:nvSpPr>
        <p:spPr>
          <a:xfrm>
            <a:off x="457200" y="4462271"/>
            <a:ext cx="54864" cy="53035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Text 25"/>
          <p:cNvSpPr txBox="1"/>
          <p:nvPr/>
        </p:nvSpPr>
        <p:spPr>
          <a:xfrm>
            <a:off x="640079" y="4577763"/>
            <a:ext cx="7863842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CA3AF"/>
                </a:solidFill>
              </a:defRPr>
            </a:lvl1pPr>
          </a:lstStyle>
          <a:p>
            <a:pPr/>
            <a:r>
              <a:t>Steady convergence observed — loss reduced by ~30.7% over 3 epochs. Gradient norms remained stable (0.12–0.26), indicating healthy training dynamics.</a:t>
            </a:r>
          </a:p>
        </p:txBody>
      </p:sp>
      <p:pic>
        <p:nvPicPr>
          <p:cNvPr id="253" name="Screenshot 2026-03-21 at 3.44.30 PM.png" descr="Screenshot 2026-03-21 at 3.44.3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0239" y="788058"/>
            <a:ext cx="3772630" cy="35673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0"/>
          <p:cNvSpPr/>
          <p:nvPr/>
        </p:nvSpPr>
        <p:spPr>
          <a:xfrm>
            <a:off x="6858000" y="1371599"/>
            <a:ext cx="4114800" cy="4114801"/>
          </a:xfrm>
          <a:prstGeom prst="ellipse">
            <a:avLst/>
          </a:prstGeom>
          <a:solidFill>
            <a:srgbClr val="10B981">
              <a:alpha val="6000"/>
            </a:srgbClr>
          </a:solidFill>
          <a:ln w="12700">
            <a:solidFill>
              <a:srgbClr val="10B981">
                <a:alpha val="1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Shape 1"/>
          <p:cNvSpPr/>
          <p:nvPr/>
        </p:nvSpPr>
        <p:spPr>
          <a:xfrm>
            <a:off x="-914400" y="3200399"/>
            <a:ext cx="3200400" cy="3200401"/>
          </a:xfrm>
          <a:prstGeom prst="ellipse">
            <a:avLst/>
          </a:prstGeom>
          <a:solidFill>
            <a:srgbClr val="3B82F6">
              <a:alpha val="6000"/>
            </a:srgbClr>
          </a:solidFill>
          <a:ln w="12700">
            <a:solidFill>
              <a:srgbClr val="3B82F6">
                <a:alpha val="1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 3"/>
          <p:cNvSpPr txBox="1"/>
          <p:nvPr/>
        </p:nvSpPr>
        <p:spPr>
          <a:xfrm>
            <a:off x="457200" y="326523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9FAFB"/>
                </a:solidFill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259" name="Shape 4"/>
          <p:cNvSpPr/>
          <p:nvPr/>
        </p:nvSpPr>
        <p:spPr>
          <a:xfrm>
            <a:off x="457200" y="347472"/>
            <a:ext cx="109728" cy="109729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Shape 5"/>
          <p:cNvSpPr/>
          <p:nvPr/>
        </p:nvSpPr>
        <p:spPr>
          <a:xfrm>
            <a:off x="457200" y="960119"/>
            <a:ext cx="4114800" cy="320040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1" name="Shape 6"/>
          <p:cNvSpPr/>
          <p:nvPr/>
        </p:nvSpPr>
        <p:spPr>
          <a:xfrm>
            <a:off x="457200" y="960119"/>
            <a:ext cx="54864" cy="3200401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7"/>
          <p:cNvSpPr txBox="1"/>
          <p:nvPr/>
        </p:nvSpPr>
        <p:spPr>
          <a:xfrm>
            <a:off x="640079" y="1018793"/>
            <a:ext cx="37490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0B981"/>
                </a:solidFill>
              </a:defRPr>
            </a:lvl1pPr>
          </a:lstStyle>
          <a:p>
            <a:pPr/>
            <a:r>
              <a:t>🏆  Key Achievements</a:t>
            </a:r>
          </a:p>
        </p:txBody>
      </p:sp>
      <p:sp>
        <p:nvSpPr>
          <p:cNvPr id="263" name="Text 8"/>
          <p:cNvSpPr txBox="1"/>
          <p:nvPr/>
        </p:nvSpPr>
        <p:spPr>
          <a:xfrm>
            <a:off x="640079" y="1371600"/>
            <a:ext cx="3794761" cy="1366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1100">
                <a:solidFill>
                  <a:srgbClr val="F9FAFB"/>
                </a:solidFill>
              </a:defRPr>
            </a:pPr>
            <a:r>
              <a:t>Successfully fine-tuned TinyLlama-1.1B on wildlife drone domain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100">
                <a:solidFill>
                  <a:srgbClr val="F9FAFB"/>
                </a:solidFill>
              </a:defRPr>
            </a:pPr>
            <a:r>
              <a:t>Achieved 30.7% loss reduction over 3 epochs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100">
                <a:solidFill>
                  <a:srgbClr val="F9FAFB"/>
                </a:solidFill>
              </a:defRPr>
            </a:pPr>
            <a:r>
              <a:t>Lightweight 20MB LoRA adapter — parameter-efficient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100">
                <a:solidFill>
                  <a:srgbClr val="F9FAFB"/>
                </a:solidFill>
              </a:defRPr>
            </a:pPr>
            <a:r>
              <a:t>Deployed via interactive Streamlit chatbot interface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100">
                <a:solidFill>
                  <a:srgbClr val="F9FAFB"/>
                </a:solidFill>
              </a:defRPr>
            </a:pPr>
            <a:r>
              <a:t>Runs on Apple Silicon without GPU cloud dependency</a:t>
            </a:r>
          </a:p>
        </p:txBody>
      </p:sp>
      <p:sp>
        <p:nvSpPr>
          <p:cNvPr id="264" name="Shape 9"/>
          <p:cNvSpPr/>
          <p:nvPr/>
        </p:nvSpPr>
        <p:spPr>
          <a:xfrm>
            <a:off x="4754879" y="960119"/>
            <a:ext cx="3931921" cy="3200401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5" name="Shape 10"/>
          <p:cNvSpPr/>
          <p:nvPr/>
        </p:nvSpPr>
        <p:spPr>
          <a:xfrm>
            <a:off x="4754879" y="960119"/>
            <a:ext cx="54865" cy="320040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Text 11"/>
          <p:cNvSpPr txBox="1"/>
          <p:nvPr/>
        </p:nvSpPr>
        <p:spPr>
          <a:xfrm>
            <a:off x="4937759" y="1018793"/>
            <a:ext cx="356616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3B82F6"/>
                </a:solidFill>
              </a:defRPr>
            </a:lvl1pPr>
          </a:lstStyle>
          <a:p>
            <a:pPr/>
            <a:r>
              <a:t>🚀  Future Scope</a:t>
            </a:r>
          </a:p>
        </p:txBody>
      </p:sp>
      <p:sp>
        <p:nvSpPr>
          <p:cNvPr id="267" name="Text 12"/>
          <p:cNvSpPr txBox="1"/>
          <p:nvPr/>
        </p:nvSpPr>
        <p:spPr>
          <a:xfrm>
            <a:off x="4937759" y="1371600"/>
            <a:ext cx="3611881" cy="1366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1100">
                <a:solidFill>
                  <a:srgbClr val="F9FAFB"/>
                </a:solidFill>
              </a:defRPr>
            </a:pPr>
            <a:r>
              <a:t>Expand dataset to 2000+ domain-specific Q&amp;A pairs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100">
                <a:solidFill>
                  <a:srgbClr val="F9FAFB"/>
                </a:solidFill>
              </a:defRPr>
            </a:pPr>
            <a:r>
              <a:t>Integrate real-time drone telemetry data into responses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100">
                <a:solidFill>
                  <a:srgbClr val="F9FAFB"/>
                </a:solidFill>
              </a:defRPr>
            </a:pPr>
            <a:r>
              <a:t>Deploy as mobile app for field use by conservationists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100">
                <a:solidFill>
                  <a:srgbClr val="F9FAFB"/>
                </a:solidFill>
              </a:defRPr>
            </a:pPr>
            <a:r>
              <a:t>Explore RAG (Retrieval-Augmented Generation) for accuracy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100">
                <a:solidFill>
                  <a:srgbClr val="F9FAFB"/>
                </a:solidFill>
              </a:defRPr>
            </a:pPr>
            <a:r>
              <a:t>Multilingual support for global wildlife researchers</a:t>
            </a:r>
          </a:p>
        </p:txBody>
      </p:sp>
      <p:sp>
        <p:nvSpPr>
          <p:cNvPr id="268" name="Shape 13"/>
          <p:cNvSpPr/>
          <p:nvPr/>
        </p:nvSpPr>
        <p:spPr>
          <a:xfrm>
            <a:off x="457200" y="4370832"/>
            <a:ext cx="8229600" cy="566929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Text 14"/>
          <p:cNvSpPr txBox="1"/>
          <p:nvPr/>
        </p:nvSpPr>
        <p:spPr>
          <a:xfrm>
            <a:off x="640079" y="4561018"/>
            <a:ext cx="78638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10B981"/>
                </a:solidFill>
              </a:defRPr>
            </a:pPr>
            <a:r>
              <a:t>Thank You!  </a:t>
            </a:r>
            <a:r>
              <a:rPr b="0" sz="1000">
                <a:solidFill>
                  <a:srgbClr val="9CA3AF"/>
                </a:solidFill>
              </a:rPr>
              <a:t>  |  Presented by: Gita GS  |  Fine-Tuned LLM Chatbot for Wildlife Surveillance Drone System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